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78" r:id="rId2"/>
    <p:sldId id="257" r:id="rId3"/>
    <p:sldId id="264" r:id="rId4"/>
    <p:sldId id="268" r:id="rId5"/>
    <p:sldId id="285" r:id="rId6"/>
    <p:sldId id="286" r:id="rId7"/>
    <p:sldId id="262" r:id="rId8"/>
    <p:sldId id="265" r:id="rId9"/>
    <p:sldId id="260" r:id="rId10"/>
    <p:sldId id="267" r:id="rId11"/>
    <p:sldId id="269" r:id="rId12"/>
    <p:sldId id="270" r:id="rId13"/>
    <p:sldId id="277" r:id="rId14"/>
    <p:sldId id="271" r:id="rId15"/>
    <p:sldId id="272" r:id="rId16"/>
    <p:sldId id="274" r:id="rId17"/>
    <p:sldId id="275" r:id="rId18"/>
    <p:sldId id="282" r:id="rId19"/>
    <p:sldId id="279" r:id="rId20"/>
    <p:sldId id="280" r:id="rId21"/>
    <p:sldId id="283" r:id="rId22"/>
    <p:sldId id="281" r:id="rId23"/>
    <p:sldId id="284" r:id="rId24"/>
    <p:sldId id="26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9" d="100"/>
          <a:sy n="69"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25F587-75A9-46F9-ABBE-0155ECBB5705}" type="datetimeFigureOut">
              <a:rPr lang="en-IN" smtClean="0"/>
              <a:t>08-05-2025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A39A70-ED50-42FA-9039-BEC367339CAB}" type="slidenum">
              <a:rPr lang="en-IN" smtClean="0"/>
              <a:t>‹#›</a:t>
            </a:fld>
            <a:endParaRPr lang="en-IN"/>
          </a:p>
        </p:txBody>
      </p:sp>
    </p:spTree>
    <p:extLst>
      <p:ext uri="{BB962C8B-B14F-4D97-AF65-F5344CB8AC3E}">
        <p14:creationId xmlns:p14="http://schemas.microsoft.com/office/powerpoint/2010/main" val="2192168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ata.vision.ee.ethz.ch/cvl/datasets_extra/food-101/" TargetMode="External"/><Relationship Id="rId7" Type="http://schemas.openxmlformats.org/officeDocument/2006/relationships/hyperlink" Target="https://numpy.org/doc/" TargetMode="External"/><Relationship Id="rId2" Type="http://schemas.openxmlformats.org/officeDocument/2006/relationships/hyperlink" Target="https://arxiv.org/abs/1409.1556" TargetMode="External"/><Relationship Id="rId1" Type="http://schemas.openxmlformats.org/officeDocument/2006/relationships/slideLayout" Target="../slideLayouts/slideLayout2.xml"/><Relationship Id="rId6" Type="http://schemas.openxmlformats.org/officeDocument/2006/relationships/hyperlink" Target="https://www.tensorflow.org/api_docs/python/tf/keras" TargetMode="External"/><Relationship Id="rId5" Type="http://schemas.openxmlformats.org/officeDocument/2006/relationships/hyperlink" Target="https://flask.palletsprojects.com/" TargetMode="External"/><Relationship Id="rId4" Type="http://schemas.openxmlformats.org/officeDocument/2006/relationships/hyperlink" Target="https://groq.com/"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0962D8-B874-30EC-55B8-9F9DD1334E1A}"/>
              </a:ext>
            </a:extLst>
          </p:cNvPr>
          <p:cNvPicPr>
            <a:picLocks noChangeAspect="1"/>
          </p:cNvPicPr>
          <p:nvPr/>
        </p:nvPicPr>
        <p:blipFill>
          <a:blip r:embed="rId2">
            <a:alphaModFix amt="24000"/>
            <a:extLst>
              <a:ext uri="{28A0092B-C50C-407E-A947-70E740481C1C}">
                <a14:useLocalDpi xmlns:a14="http://schemas.microsoft.com/office/drawing/2010/main" val="0"/>
              </a:ext>
            </a:extLst>
          </a:blip>
          <a:stretch>
            <a:fillRect/>
          </a:stretch>
        </p:blipFill>
        <p:spPr>
          <a:xfrm>
            <a:off x="1" y="0"/>
            <a:ext cx="12192000" cy="6858001"/>
          </a:xfrm>
          <a:prstGeom prst="rect">
            <a:avLst/>
          </a:prstGeom>
        </p:spPr>
      </p:pic>
      <p:pic>
        <p:nvPicPr>
          <p:cNvPr id="4" name="Google Shape;79;p10">
            <a:extLst>
              <a:ext uri="{FF2B5EF4-FFF2-40B4-BE49-F238E27FC236}">
                <a16:creationId xmlns:a16="http://schemas.microsoft.com/office/drawing/2014/main" id="{D50933D0-36F4-853B-C553-DF936A5AB63B}"/>
              </a:ext>
            </a:extLst>
          </p:cNvPr>
          <p:cNvPicPr preferRelativeResize="0"/>
          <p:nvPr/>
        </p:nvPicPr>
        <p:blipFill rotWithShape="1">
          <a:blip r:embed="rId3">
            <a:alphaModFix/>
          </a:blip>
          <a:srcRect/>
          <a:stretch/>
        </p:blipFill>
        <p:spPr>
          <a:xfrm>
            <a:off x="1166778" y="193813"/>
            <a:ext cx="9858444" cy="1357323"/>
          </a:xfrm>
          <a:prstGeom prst="rect">
            <a:avLst/>
          </a:prstGeom>
          <a:noFill/>
          <a:ln>
            <a:noFill/>
          </a:ln>
        </p:spPr>
      </p:pic>
      <p:sp>
        <p:nvSpPr>
          <p:cNvPr id="5" name="TextBox 4">
            <a:extLst>
              <a:ext uri="{FF2B5EF4-FFF2-40B4-BE49-F238E27FC236}">
                <a16:creationId xmlns:a16="http://schemas.microsoft.com/office/drawing/2014/main" id="{12C250E6-EF93-1F59-B93B-9442336896CF}"/>
              </a:ext>
            </a:extLst>
          </p:cNvPr>
          <p:cNvSpPr txBox="1"/>
          <p:nvPr/>
        </p:nvSpPr>
        <p:spPr>
          <a:xfrm>
            <a:off x="1821885" y="1755151"/>
            <a:ext cx="8278408" cy="4909036"/>
          </a:xfrm>
          <a:prstGeom prst="rect">
            <a:avLst/>
          </a:prstGeom>
          <a:noFill/>
        </p:spPr>
        <p:txBody>
          <a:bodyPr wrap="square" rtlCol="0">
            <a:spAutoFit/>
          </a:bodyPr>
          <a:lstStyle/>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A  MINI PROJECT</a:t>
            </a:r>
          </a:p>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On</a:t>
            </a:r>
          </a:p>
          <a:p>
            <a:pPr marL="0" marR="0" lvl="0" indent="0" algn="ctr" rtl="0">
              <a:lnSpc>
                <a:spcPct val="100000"/>
              </a:lnSpc>
              <a:spcBef>
                <a:spcPts val="0"/>
              </a:spcBef>
              <a:spcAft>
                <a:spcPts val="0"/>
              </a:spcAft>
              <a:buClr>
                <a:srgbClr val="000000"/>
              </a:buClr>
              <a:buSzPts val="2400"/>
              <a:buFont typeface="Arial"/>
              <a:buNone/>
            </a:pPr>
            <a:r>
              <a:rPr lang="en-US" sz="2000" b="1" i="0" u="sng"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 </a:t>
            </a:r>
            <a:r>
              <a:rPr lang="en-US" sz="2000" b="1" u="sng"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Ingredients Identification from the Food Image Using Deep Learning</a:t>
            </a:r>
          </a:p>
          <a:p>
            <a:pPr marL="0" marR="0" lvl="0" indent="0" algn="ctr" rtl="0">
              <a:lnSpc>
                <a:spcPct val="100000"/>
              </a:lnSpc>
              <a:spcBef>
                <a:spcPts val="0"/>
              </a:spcBef>
              <a:spcAft>
                <a:spcPts val="0"/>
              </a:spcAft>
              <a:buClr>
                <a:srgbClr val="000000"/>
              </a:buClr>
              <a:buSzPts val="2400"/>
              <a:buFont typeface="Arial"/>
              <a:buNone/>
            </a:pPr>
            <a:r>
              <a:rPr lang="en-US" sz="2000" b="1" u="sng"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 Techniques</a:t>
            </a:r>
            <a:endParaRPr lang="en-US" sz="2000" b="1" i="0" u="sng"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BACHELOR OF TECHNOLOGY</a:t>
            </a:r>
          </a:p>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IN</a:t>
            </a:r>
          </a:p>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CSE- DATA SCIENCE</a:t>
            </a:r>
          </a:p>
          <a:p>
            <a:pPr marL="0" marR="0" lvl="0" indent="0" algn="ctr" rtl="0">
              <a:lnSpc>
                <a:spcPct val="150000"/>
              </a:lnSpc>
              <a:spcBef>
                <a:spcPts val="0"/>
              </a:spcBef>
              <a:spcAft>
                <a:spcPts val="0"/>
              </a:spcAft>
              <a:buClr>
                <a:srgbClr val="000000"/>
              </a:buClr>
              <a:buSzPts val="18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BY</a:t>
            </a:r>
          </a:p>
          <a:p>
            <a:pPr>
              <a:buNone/>
            </a:pPr>
            <a:r>
              <a:rPr lang="en-US" sz="2000" b="1" dirty="0">
                <a:solidFill>
                  <a:schemeClr val="bg2"/>
                </a:solidFill>
                <a:latin typeface="Times New Roman" panose="02020603050405020304" pitchFamily="18" charset="0"/>
                <a:cs typeface="Times New Roman" panose="02020603050405020304" pitchFamily="18" charset="0"/>
              </a:rPr>
              <a:t>		22VE1A67A5 - RAJULAPATI SAI LAKSHMI </a:t>
            </a:r>
          </a:p>
          <a:p>
            <a:pPr>
              <a:buNone/>
            </a:pPr>
            <a:r>
              <a:rPr lang="en-US" sz="2000" b="1" dirty="0">
                <a:solidFill>
                  <a:schemeClr val="bg2"/>
                </a:solidFill>
                <a:latin typeface="Times New Roman" panose="02020603050405020304" pitchFamily="18" charset="0"/>
                <a:cs typeface="Times New Roman" panose="02020603050405020304" pitchFamily="18" charset="0"/>
              </a:rPr>
              <a:t>		22VE1A67A8 - ROYALA TEJASIWINI </a:t>
            </a:r>
          </a:p>
          <a:p>
            <a:pPr>
              <a:buNone/>
            </a:pPr>
            <a:r>
              <a:rPr lang="en-US" sz="2000" b="1" dirty="0">
                <a:solidFill>
                  <a:schemeClr val="bg2"/>
                </a:solidFill>
                <a:latin typeface="Times New Roman" panose="02020603050405020304" pitchFamily="18" charset="0"/>
                <a:cs typeface="Times New Roman" panose="02020603050405020304" pitchFamily="18" charset="0"/>
              </a:rPr>
              <a:t>		22VE1A67B2 - SAMALA RAKSHITH BABU </a:t>
            </a:r>
          </a:p>
          <a:p>
            <a:r>
              <a:rPr lang="en-US" sz="2000" b="1" dirty="0">
                <a:solidFill>
                  <a:schemeClr val="bg2"/>
                </a:solidFill>
                <a:latin typeface="Times New Roman" panose="02020603050405020304" pitchFamily="18" charset="0"/>
                <a:cs typeface="Times New Roman" panose="02020603050405020304" pitchFamily="18" charset="0"/>
              </a:rPr>
              <a:t>		22VE1A67C6 - VYDYAM KEERTHI CHAKRA</a:t>
            </a:r>
          </a:p>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Under the Guidance of </a:t>
            </a:r>
          </a:p>
          <a:p>
            <a:pPr marL="0" lvl="0" indent="0" algn="ctr" rtl="0">
              <a:lnSpc>
                <a:spcPct val="115000"/>
              </a:lnSpc>
              <a:spcBef>
                <a:spcPts val="0"/>
              </a:spcBef>
              <a:spcAft>
                <a:spcPts val="0"/>
              </a:spcAft>
              <a:buClr>
                <a:schemeClr val="dk1"/>
              </a:buClr>
              <a:buSzPts val="1100"/>
              <a:buFont typeface="Arial"/>
              <a:buNone/>
            </a:pPr>
            <a:r>
              <a:rPr lang="en-US" sz="2000" b="1" dirty="0" err="1">
                <a:solidFill>
                  <a:schemeClr val="bg2"/>
                </a:solidFill>
                <a:latin typeface="Times New Roman" panose="02020603050405020304" pitchFamily="18" charset="0"/>
                <a:cs typeface="Times New Roman" panose="02020603050405020304" pitchFamily="18" charset="0"/>
              </a:rPr>
              <a:t>Mrs.G</a:t>
            </a:r>
            <a:r>
              <a:rPr lang="en-US" sz="2000" b="1" dirty="0">
                <a:solidFill>
                  <a:schemeClr val="bg2"/>
                </a:solidFill>
                <a:latin typeface="Times New Roman" panose="02020603050405020304" pitchFamily="18" charset="0"/>
                <a:cs typeface="Times New Roman" panose="02020603050405020304" pitchFamily="18" charset="0"/>
              </a:rPr>
              <a:t> JYOTHI - ASSISTANT PROFESSOR</a:t>
            </a:r>
            <a:endParaRPr lang="en-US" sz="2000" b="1" dirty="0">
              <a:solidFill>
                <a:schemeClr val="bg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chemeClr val="bg2"/>
                </a:solidFill>
                <a:latin typeface="Times New Roman" panose="02020603050405020304" pitchFamily="18" charset="0"/>
                <a:ea typeface="Times New Roman"/>
                <a:cs typeface="Times New Roman" panose="02020603050405020304" pitchFamily="18" charset="0"/>
                <a:sym typeface="Times New Roman"/>
              </a:rPr>
              <a:t>ACADEMIC BATCH: (2024-2025)</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260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Content Placeholder 11" descr="A variety of food in bowls&#10;&#10;AI-generated content may be incorrect.">
            <a:extLst>
              <a:ext uri="{FF2B5EF4-FFF2-40B4-BE49-F238E27FC236}">
                <a16:creationId xmlns:a16="http://schemas.microsoft.com/office/drawing/2014/main" id="{0DE09048-ABB7-3992-1B1D-EEED8D99EFCE}"/>
              </a:ext>
            </a:extLst>
          </p:cNvPr>
          <p:cNvPicPr>
            <a:picLocks noGrp="1" noChangeAspect="1"/>
          </p:cNvPicPr>
          <p:nvPr>
            <p:ph sz="half" idx="2"/>
          </p:nvPr>
        </p:nvPicPr>
        <p:blipFill>
          <a:blip r:embed="rId2">
            <a:alphaModFix amt="35000"/>
          </a:blip>
          <a:srcRect b="15730"/>
          <a:stretch/>
        </p:blipFill>
        <p:spPr>
          <a:xfrm>
            <a:off x="0" y="0"/>
            <a:ext cx="12191980" cy="6857999"/>
          </a:xfrm>
          <a:prstGeom prst="rect">
            <a:avLst/>
          </a:prstGeom>
        </p:spPr>
      </p:pic>
      <p:sp>
        <p:nvSpPr>
          <p:cNvPr id="2" name="Title 1">
            <a:extLst>
              <a:ext uri="{FF2B5EF4-FFF2-40B4-BE49-F238E27FC236}">
                <a16:creationId xmlns:a16="http://schemas.microsoft.com/office/drawing/2014/main" id="{D3C97CF4-2C68-7F06-B2BF-137EE375EBFE}"/>
              </a:ext>
            </a:extLst>
          </p:cNvPr>
          <p:cNvSpPr>
            <a:spLocks noGrp="1"/>
          </p:cNvSpPr>
          <p:nvPr>
            <p:ph type="title"/>
          </p:nvPr>
        </p:nvSpPr>
        <p:spPr>
          <a:xfrm>
            <a:off x="463445" y="1050872"/>
            <a:ext cx="6402050" cy="5210085"/>
          </a:xfrm>
        </p:spPr>
        <p:txBody>
          <a:bodyPr vert="horz" lIns="91440" tIns="45720" rIns="91440" bIns="45720" rtlCol="0" anchor="ctr">
            <a:normAutofit fontScale="90000"/>
          </a:bodyPr>
          <a:lstStyle/>
          <a:p>
            <a:pPr algn="ctr"/>
            <a:br>
              <a:rPr lang="en-US" sz="5000" dirty="0">
                <a:ln w="22225">
                  <a:solidFill>
                    <a:srgbClr val="FFFFFF"/>
                  </a:solidFill>
                </a:ln>
              </a:rPr>
            </a:br>
            <a:r>
              <a:rPr lang="en-US" sz="5000" dirty="0">
                <a:ln w="22225">
                  <a:solidFill>
                    <a:srgbClr val="FFFFFF"/>
                  </a:solidFill>
                </a:ln>
                <a:noFill/>
              </a:rPr>
              <a:t>Recipe Generation and Nutritional Analysis from Food Images Using Deep Learning Techniques</a:t>
            </a:r>
            <a:br>
              <a:rPr lang="en-US" sz="5000" dirty="0">
                <a:ln w="22225">
                  <a:solidFill>
                    <a:srgbClr val="FFFFFF"/>
                  </a:solidFill>
                </a:ln>
              </a:rPr>
            </a:br>
            <a:br>
              <a:rPr lang="en-US" sz="5000" dirty="0">
                <a:ln w="22225">
                  <a:solidFill>
                    <a:srgbClr val="FFFFFF"/>
                  </a:solidFill>
                </a:ln>
              </a:rPr>
            </a:br>
            <a:endParaRPr lang="en-US" sz="5000" dirty="0">
              <a:ln w="22225">
                <a:solidFill>
                  <a:srgbClr val="FFFFFF"/>
                </a:solidFill>
              </a:ln>
            </a:endParaRPr>
          </a:p>
          <a:p>
            <a:pPr algn="r"/>
            <a:endParaRPr lang="en-US" sz="5000" dirty="0">
              <a:ln w="22225">
                <a:solidFill>
                  <a:srgbClr val="FFFFFF"/>
                </a:solidFill>
              </a:ln>
              <a:noFill/>
            </a:endParaRPr>
          </a:p>
        </p:txBody>
      </p:sp>
      <p:cxnSp>
        <p:nvCxnSpPr>
          <p:cNvPr id="31" name="Straight Connector 30">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F15122E-CFC8-FCFD-3E0E-2D8E7611DFC9}"/>
              </a:ext>
            </a:extLst>
          </p:cNvPr>
          <p:cNvSpPr txBox="1"/>
          <p:nvPr/>
        </p:nvSpPr>
        <p:spPr>
          <a:xfrm>
            <a:off x="7734007" y="423913"/>
            <a:ext cx="4631675" cy="6010171"/>
          </a:xfrm>
          <a:prstGeom prst="rect">
            <a:avLst/>
          </a:prstGeom>
          <a:noFill/>
        </p:spPr>
        <p:txBody>
          <a:bodyPr wrap="square" rtlCol="0">
            <a:spAutoFit/>
          </a:bodyPr>
          <a:lstStyle/>
          <a:p>
            <a:pPr marL="0" lvl="0" indent="0" algn="l" rtl="0">
              <a:lnSpc>
                <a:spcPct val="150000"/>
              </a:lnSpc>
              <a:spcBef>
                <a:spcPts val="0"/>
              </a:spcBef>
              <a:spcAft>
                <a:spcPts val="0"/>
              </a:spcAft>
              <a:buSzPts val="2220"/>
              <a:buNone/>
            </a:pPr>
            <a:r>
              <a:rPr lang="en-US" sz="2800" b="1" u="sng" dirty="0">
                <a:solidFill>
                  <a:schemeClr val="tx2"/>
                </a:solidFill>
                <a:latin typeface="Times New Roman"/>
                <a:ea typeface="Times New Roman"/>
                <a:cs typeface="Times New Roman"/>
                <a:sym typeface="Times New Roman"/>
              </a:rPr>
              <a:t>CONTENTS </a:t>
            </a:r>
            <a:r>
              <a:rPr lang="en-US" sz="2800" b="1" dirty="0">
                <a:solidFill>
                  <a:schemeClr val="tx2"/>
                </a:solidFill>
                <a:latin typeface="Times New Roman"/>
                <a:ea typeface="Times New Roman"/>
                <a:cs typeface="Times New Roman"/>
                <a:sym typeface="Times New Roman"/>
              </a:rPr>
              <a:t>:</a:t>
            </a:r>
            <a:endParaRPr lang="en-US" sz="2800" b="1" cap="none" dirty="0">
              <a:solidFill>
                <a:schemeClr val="tx2"/>
              </a:solidFill>
              <a:latin typeface="Times New Roman"/>
              <a:ea typeface="Times New Roman"/>
              <a:cs typeface="Times New Roman"/>
              <a:sym typeface="Times New Roman"/>
            </a:endParaRPr>
          </a:p>
          <a:p>
            <a:pPr lvl="0" algn="l" rtl="0">
              <a:lnSpc>
                <a:spcPct val="40000"/>
              </a:lnSpc>
              <a:spcBef>
                <a:spcPts val="1400"/>
              </a:spcBef>
              <a:spcAft>
                <a:spcPts val="0"/>
              </a:spcAft>
              <a:buClr>
                <a:schemeClr val="dk1"/>
              </a:buClr>
              <a:buSzPts val="2220"/>
            </a:pPr>
            <a:r>
              <a:rPr lang="en-US" sz="2400" dirty="0">
                <a:solidFill>
                  <a:schemeClr val="tx2"/>
                </a:solidFill>
                <a:latin typeface="Times New Roman"/>
                <a:ea typeface="Times New Roman"/>
                <a:cs typeface="Times New Roman"/>
                <a:sym typeface="Times New Roman"/>
              </a:rPr>
              <a:t>Abstract</a:t>
            </a:r>
          </a:p>
          <a:p>
            <a:pPr lvl="0" algn="l" rtl="0">
              <a:lnSpc>
                <a:spcPct val="40000"/>
              </a:lnSpc>
              <a:spcBef>
                <a:spcPts val="1400"/>
              </a:spcBef>
              <a:spcAft>
                <a:spcPts val="0"/>
              </a:spcAft>
              <a:buClr>
                <a:schemeClr val="dk1"/>
              </a:buClr>
              <a:buSzPts val="2220"/>
            </a:pPr>
            <a:r>
              <a:rPr lang="en-US" sz="2400" dirty="0">
                <a:solidFill>
                  <a:schemeClr val="tx2"/>
                </a:solidFill>
                <a:latin typeface="Times New Roman"/>
                <a:cs typeface="Times New Roman"/>
                <a:sym typeface="Times New Roman"/>
              </a:rPr>
              <a:t>Introduction</a:t>
            </a:r>
          </a:p>
          <a:p>
            <a:pPr lvl="0" algn="l" rtl="0">
              <a:lnSpc>
                <a:spcPct val="40000"/>
              </a:lnSpc>
              <a:spcBef>
                <a:spcPts val="1400"/>
              </a:spcBef>
              <a:spcAft>
                <a:spcPts val="0"/>
              </a:spcAft>
              <a:buClr>
                <a:schemeClr val="dk1"/>
              </a:buClr>
              <a:buSzPts val="2220"/>
            </a:pPr>
            <a:r>
              <a:rPr lang="en-US" sz="2400" dirty="0">
                <a:solidFill>
                  <a:schemeClr val="tx2"/>
                </a:solidFill>
                <a:latin typeface="Times New Roman"/>
                <a:cs typeface="Times New Roman"/>
                <a:sym typeface="Times New Roman"/>
              </a:rPr>
              <a:t>Literature Survey</a:t>
            </a:r>
            <a:endParaRPr lang="en-US" sz="2400" dirty="0">
              <a:solidFill>
                <a:schemeClr val="tx2"/>
              </a:solidFill>
            </a:endParaRPr>
          </a:p>
          <a:p>
            <a:pPr lvl="0" algn="l" rtl="0">
              <a:lnSpc>
                <a:spcPct val="40000"/>
              </a:lnSpc>
              <a:spcBef>
                <a:spcPts val="1400"/>
              </a:spcBef>
              <a:spcAft>
                <a:spcPts val="0"/>
              </a:spcAft>
              <a:buClr>
                <a:schemeClr val="dk1"/>
              </a:buClr>
              <a:buSzPts val="2220"/>
            </a:pPr>
            <a:r>
              <a:rPr lang="en-US" sz="2400" dirty="0">
                <a:solidFill>
                  <a:schemeClr val="tx2"/>
                </a:solidFill>
                <a:latin typeface="Times New Roman"/>
                <a:ea typeface="Times New Roman"/>
                <a:cs typeface="Times New Roman"/>
                <a:sym typeface="Times New Roman"/>
              </a:rPr>
              <a:t>Problem Statement</a:t>
            </a:r>
            <a:endParaRPr lang="en-US" sz="2400" dirty="0">
              <a:solidFill>
                <a:schemeClr val="tx2"/>
              </a:solidFill>
            </a:endParaRPr>
          </a:p>
          <a:p>
            <a:pPr lvl="0" algn="l" rtl="0">
              <a:lnSpc>
                <a:spcPct val="40000"/>
              </a:lnSpc>
              <a:spcBef>
                <a:spcPts val="1400"/>
              </a:spcBef>
              <a:spcAft>
                <a:spcPts val="0"/>
              </a:spcAft>
              <a:buClr>
                <a:schemeClr val="dk1"/>
              </a:buClr>
              <a:buSzPts val="2220"/>
            </a:pPr>
            <a:r>
              <a:rPr lang="en-US" sz="2400" dirty="0">
                <a:solidFill>
                  <a:schemeClr val="tx2"/>
                </a:solidFill>
                <a:latin typeface="Times New Roman"/>
                <a:ea typeface="Times New Roman"/>
                <a:cs typeface="Times New Roman"/>
                <a:sym typeface="Times New Roman"/>
              </a:rPr>
              <a:t>Existing System</a:t>
            </a:r>
            <a:endParaRPr lang="en-US" sz="2400" dirty="0">
              <a:solidFill>
                <a:schemeClr val="tx2"/>
              </a:solidFill>
            </a:endParaRPr>
          </a:p>
          <a:p>
            <a:pPr lvl="0" algn="l" rtl="0">
              <a:lnSpc>
                <a:spcPct val="40000"/>
              </a:lnSpc>
              <a:spcBef>
                <a:spcPts val="1400"/>
              </a:spcBef>
              <a:spcAft>
                <a:spcPts val="0"/>
              </a:spcAft>
              <a:buClr>
                <a:schemeClr val="dk1"/>
              </a:buClr>
              <a:buSzPts val="2220"/>
            </a:pPr>
            <a:r>
              <a:rPr lang="en-US" sz="2400" dirty="0">
                <a:solidFill>
                  <a:schemeClr val="tx2"/>
                </a:solidFill>
                <a:latin typeface="Times New Roman"/>
                <a:ea typeface="Times New Roman"/>
                <a:cs typeface="Times New Roman"/>
                <a:sym typeface="Times New Roman"/>
              </a:rPr>
              <a:t>Disadvantages</a:t>
            </a:r>
            <a:endParaRPr lang="en-US" sz="2400" cap="none" dirty="0">
              <a:solidFill>
                <a:schemeClr val="tx2"/>
              </a:solidFill>
              <a:latin typeface="Times New Roman"/>
              <a:ea typeface="Times New Roman"/>
              <a:cs typeface="Times New Roman"/>
              <a:sym typeface="Times New Roman"/>
            </a:endParaRPr>
          </a:p>
          <a:p>
            <a:pPr lvl="0" algn="l" rtl="0">
              <a:lnSpc>
                <a:spcPct val="40000"/>
              </a:lnSpc>
              <a:spcBef>
                <a:spcPts val="1400"/>
              </a:spcBef>
              <a:spcAft>
                <a:spcPts val="0"/>
              </a:spcAft>
              <a:buClr>
                <a:schemeClr val="dk1"/>
              </a:buClr>
              <a:buSzPts val="2220"/>
            </a:pPr>
            <a:r>
              <a:rPr lang="en-US" sz="2400" cap="none" dirty="0">
                <a:solidFill>
                  <a:schemeClr val="tx2"/>
                </a:solidFill>
                <a:latin typeface="Times New Roman"/>
                <a:ea typeface="Times New Roman"/>
                <a:cs typeface="Times New Roman"/>
                <a:sym typeface="Times New Roman"/>
              </a:rPr>
              <a:t>Proposed System</a:t>
            </a:r>
            <a:endParaRPr lang="en-US" sz="2400" dirty="0">
              <a:solidFill>
                <a:schemeClr val="tx2"/>
              </a:solidFill>
            </a:endParaRPr>
          </a:p>
          <a:p>
            <a:pPr lvl="0" algn="l" rtl="0">
              <a:lnSpc>
                <a:spcPct val="40000"/>
              </a:lnSpc>
              <a:spcBef>
                <a:spcPts val="1400"/>
              </a:spcBef>
              <a:spcAft>
                <a:spcPts val="0"/>
              </a:spcAft>
              <a:buClr>
                <a:schemeClr val="dk1"/>
              </a:buClr>
              <a:buSzPts val="2220"/>
            </a:pPr>
            <a:r>
              <a:rPr lang="en-US" sz="2400" dirty="0">
                <a:solidFill>
                  <a:schemeClr val="tx2"/>
                </a:solidFill>
                <a:latin typeface="Times New Roman"/>
                <a:ea typeface="Times New Roman"/>
                <a:cs typeface="Times New Roman"/>
                <a:sym typeface="Times New Roman"/>
              </a:rPr>
              <a:t>Advantages</a:t>
            </a:r>
            <a:endParaRPr lang="en-IN" sz="2400" dirty="0">
              <a:solidFill>
                <a:schemeClr val="tx2"/>
              </a:solidFill>
              <a:latin typeface="Times New Roman"/>
              <a:ea typeface="Times New Roman"/>
              <a:cs typeface="Times New Roman"/>
              <a:sym typeface="Times New Roman"/>
            </a:endParaRPr>
          </a:p>
          <a:p>
            <a:pPr lvl="0" algn="l" rtl="0">
              <a:lnSpc>
                <a:spcPct val="40000"/>
              </a:lnSpc>
              <a:spcBef>
                <a:spcPts val="1400"/>
              </a:spcBef>
              <a:spcAft>
                <a:spcPts val="0"/>
              </a:spcAft>
              <a:buClr>
                <a:schemeClr val="dk1"/>
              </a:buClr>
              <a:buSzPts val="2220"/>
            </a:pPr>
            <a:r>
              <a:rPr lang="en-IN" sz="2400" dirty="0">
                <a:solidFill>
                  <a:schemeClr val="tx2"/>
                </a:solidFill>
                <a:latin typeface="Times New Roman"/>
                <a:ea typeface="Times New Roman"/>
                <a:cs typeface="Times New Roman"/>
                <a:sym typeface="Times New Roman"/>
              </a:rPr>
              <a:t>Software &amp; Hardware</a:t>
            </a:r>
          </a:p>
          <a:p>
            <a:pPr lvl="0" algn="l" rtl="0">
              <a:lnSpc>
                <a:spcPct val="40000"/>
              </a:lnSpc>
              <a:spcBef>
                <a:spcPts val="1400"/>
              </a:spcBef>
              <a:spcAft>
                <a:spcPts val="0"/>
              </a:spcAft>
              <a:buClr>
                <a:schemeClr val="dk1"/>
              </a:buClr>
              <a:buSzPts val="2220"/>
            </a:pPr>
            <a:r>
              <a:rPr lang="en-IN" sz="2400" dirty="0">
                <a:solidFill>
                  <a:schemeClr val="tx2"/>
                </a:solidFill>
                <a:latin typeface="Times New Roman"/>
                <a:ea typeface="Times New Roman"/>
                <a:cs typeface="Times New Roman"/>
                <a:sym typeface="Times New Roman"/>
              </a:rPr>
              <a:t>Use case Diagram</a:t>
            </a:r>
          </a:p>
          <a:p>
            <a:pPr lvl="0" algn="l" rtl="0">
              <a:lnSpc>
                <a:spcPct val="40000"/>
              </a:lnSpc>
              <a:spcBef>
                <a:spcPts val="1400"/>
              </a:spcBef>
              <a:spcAft>
                <a:spcPts val="0"/>
              </a:spcAft>
              <a:buClr>
                <a:schemeClr val="dk1"/>
              </a:buClr>
              <a:buSzPts val="2220"/>
            </a:pPr>
            <a:r>
              <a:rPr lang="en-IN" sz="2400" dirty="0">
                <a:solidFill>
                  <a:schemeClr val="tx2"/>
                </a:solidFill>
                <a:latin typeface="Times New Roman"/>
                <a:ea typeface="Times New Roman"/>
                <a:cs typeface="Times New Roman"/>
                <a:sym typeface="Times New Roman"/>
              </a:rPr>
              <a:t>Activity Diagram</a:t>
            </a:r>
          </a:p>
          <a:p>
            <a:pPr lvl="0" algn="l" rtl="0">
              <a:lnSpc>
                <a:spcPct val="40000"/>
              </a:lnSpc>
              <a:spcBef>
                <a:spcPts val="1400"/>
              </a:spcBef>
              <a:spcAft>
                <a:spcPts val="0"/>
              </a:spcAft>
              <a:buClr>
                <a:schemeClr val="dk1"/>
              </a:buClr>
              <a:buSzPts val="2220"/>
            </a:pPr>
            <a:r>
              <a:rPr lang="en-IN" sz="2400" dirty="0">
                <a:solidFill>
                  <a:schemeClr val="tx2"/>
                </a:solidFill>
                <a:latin typeface="Times New Roman"/>
                <a:ea typeface="Times New Roman"/>
                <a:cs typeface="Times New Roman"/>
                <a:sym typeface="Times New Roman"/>
              </a:rPr>
              <a:t>System Architecture</a:t>
            </a:r>
          </a:p>
          <a:p>
            <a:pPr lvl="0" algn="l" rtl="0">
              <a:lnSpc>
                <a:spcPct val="40000"/>
              </a:lnSpc>
              <a:spcBef>
                <a:spcPts val="1400"/>
              </a:spcBef>
              <a:spcAft>
                <a:spcPts val="0"/>
              </a:spcAft>
              <a:buClr>
                <a:schemeClr val="dk1"/>
              </a:buClr>
              <a:buSzPts val="2220"/>
            </a:pPr>
            <a:r>
              <a:rPr lang="en-IN" sz="2400" dirty="0">
                <a:solidFill>
                  <a:schemeClr val="tx2"/>
                </a:solidFill>
                <a:latin typeface="Times New Roman"/>
                <a:ea typeface="Times New Roman"/>
                <a:cs typeface="Times New Roman"/>
                <a:sym typeface="Times New Roman"/>
              </a:rPr>
              <a:t>Expected Output</a:t>
            </a:r>
          </a:p>
          <a:p>
            <a:pPr lvl="0" algn="l" rtl="0">
              <a:lnSpc>
                <a:spcPct val="40000"/>
              </a:lnSpc>
              <a:spcBef>
                <a:spcPts val="1400"/>
              </a:spcBef>
              <a:spcAft>
                <a:spcPts val="0"/>
              </a:spcAft>
              <a:buClr>
                <a:schemeClr val="dk1"/>
              </a:buClr>
              <a:buSzPts val="2220"/>
            </a:pPr>
            <a:r>
              <a:rPr lang="en-IN" sz="2400" dirty="0">
                <a:solidFill>
                  <a:schemeClr val="tx2"/>
                </a:solidFill>
                <a:latin typeface="Times New Roman"/>
                <a:ea typeface="Times New Roman"/>
                <a:cs typeface="Times New Roman"/>
                <a:sym typeface="Times New Roman"/>
              </a:rPr>
              <a:t>Conclusion </a:t>
            </a:r>
          </a:p>
          <a:p>
            <a:pPr lvl="0" algn="l" rtl="0">
              <a:lnSpc>
                <a:spcPct val="40000"/>
              </a:lnSpc>
              <a:spcBef>
                <a:spcPts val="1400"/>
              </a:spcBef>
              <a:spcAft>
                <a:spcPts val="0"/>
              </a:spcAft>
              <a:buClr>
                <a:schemeClr val="dk1"/>
              </a:buClr>
              <a:buSzPts val="2220"/>
            </a:pPr>
            <a:r>
              <a:rPr lang="en-IN" sz="2400" dirty="0">
                <a:solidFill>
                  <a:schemeClr val="tx2"/>
                </a:solidFill>
                <a:latin typeface="Times New Roman"/>
                <a:ea typeface="Times New Roman"/>
                <a:cs typeface="Times New Roman"/>
                <a:sym typeface="Times New Roman"/>
              </a:rPr>
              <a:t>Future Work</a:t>
            </a:r>
          </a:p>
          <a:p>
            <a:pPr lvl="0" algn="l" rtl="0">
              <a:lnSpc>
                <a:spcPct val="40000"/>
              </a:lnSpc>
              <a:spcBef>
                <a:spcPts val="1400"/>
              </a:spcBef>
              <a:spcAft>
                <a:spcPts val="0"/>
              </a:spcAft>
              <a:buClr>
                <a:schemeClr val="dk1"/>
              </a:buClr>
              <a:buSzPts val="2220"/>
            </a:pPr>
            <a:r>
              <a:rPr lang="en-US" sz="2400" dirty="0">
                <a:solidFill>
                  <a:schemeClr val="tx2"/>
                </a:solidFill>
                <a:latin typeface="Times New Roman"/>
                <a:ea typeface="Times New Roman"/>
                <a:cs typeface="Times New Roman"/>
                <a:sym typeface="Times New Roman"/>
              </a:rPr>
              <a:t>References</a:t>
            </a:r>
          </a:p>
        </p:txBody>
      </p:sp>
    </p:spTree>
    <p:extLst>
      <p:ext uri="{BB962C8B-B14F-4D97-AF65-F5344CB8AC3E}">
        <p14:creationId xmlns:p14="http://schemas.microsoft.com/office/powerpoint/2010/main" val="332446869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513E45-4184-45C2-3CA8-BE857C73FD93}"/>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0" y="1"/>
            <a:ext cx="12203218" cy="6858000"/>
          </a:xfrm>
          <a:prstGeom prst="rect">
            <a:avLst/>
          </a:prstGeom>
        </p:spPr>
      </p:pic>
      <p:sp>
        <p:nvSpPr>
          <p:cNvPr id="2" name="Title 1">
            <a:extLst>
              <a:ext uri="{FF2B5EF4-FFF2-40B4-BE49-F238E27FC236}">
                <a16:creationId xmlns:a16="http://schemas.microsoft.com/office/drawing/2014/main" id="{C79C86A2-5EC1-C1CA-B989-00F11CF63A49}"/>
              </a:ext>
            </a:extLst>
          </p:cNvPr>
          <p:cNvSpPr>
            <a:spLocks noGrp="1"/>
          </p:cNvSpPr>
          <p:nvPr>
            <p:ph type="title"/>
          </p:nvPr>
        </p:nvSpPr>
        <p:spPr>
          <a:xfrm>
            <a:off x="342900" y="0"/>
            <a:ext cx="11010900" cy="1375895"/>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ABSTRACT</a:t>
            </a:r>
            <a:endParaRPr lang="en-IN" sz="4800" b="1" dirty="0">
              <a:solidFill>
                <a:schemeClr val="bg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A78B17-24F2-0B2F-B4BD-DBB88DFFB43B}"/>
              </a:ext>
            </a:extLst>
          </p:cNvPr>
          <p:cNvSpPr>
            <a:spLocks noGrp="1"/>
          </p:cNvSpPr>
          <p:nvPr>
            <p:ph idx="1"/>
          </p:nvPr>
        </p:nvSpPr>
        <p:spPr>
          <a:xfrm>
            <a:off x="342900" y="1017040"/>
            <a:ext cx="10515600" cy="5583836"/>
          </a:xfrm>
        </p:spPr>
        <p:txBody>
          <a:bodyPr>
            <a:normAutofit fontScale="92500" lnSpcReduction="10000"/>
          </a:bodyPr>
          <a:lstStyle/>
          <a:p>
            <a:pPr marL="8890" indent="-6350" algn="just">
              <a:lnSpc>
                <a:spcPct val="107000"/>
              </a:lnSpc>
              <a:spcAft>
                <a:spcPts val="210"/>
              </a:spcAft>
              <a:buNone/>
            </a:pPr>
            <a:r>
              <a:rPr lang="en-IN" sz="22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Food ingredient identification from images is an essential task in food technology, dietary monitoring, and health-conscious applications. This study proposes a deep learning-based approach for automatically identifying ingredients from food images using the VGG16 convolutional neural network (CNN). The model is trained on a large-scale dataset containing [mention number] food images, covering diverse cuisines and ingredients. The dataset was collected from [mention sources, e.g., open-source datasets, web scraping, custom image labelling etc.] and pre-processed through image augmentation, normalization, and resizing to enhance classification </a:t>
            </a:r>
            <a:r>
              <a:rPr lang="en-IN" sz="2200" kern="100" dirty="0" err="1">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accuracy.Our</a:t>
            </a:r>
            <a:r>
              <a:rPr lang="en-IN" sz="22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 trained VGG16 model achieves an accuracy of [mention accuracy, e.g., 85-95%] on the test dataset, demonstrating its effectiveness in recognizing multiple ingredients from complex food images. The system is further enhanced by integrating the </a:t>
            </a:r>
            <a:r>
              <a:rPr lang="en-IN" sz="2200" kern="100" dirty="0" err="1">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Groq</a:t>
            </a:r>
            <a:r>
              <a:rPr lang="en-IN" sz="22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 API, which provides real-time ingredient analysis and detailed nutritional information. This integration allows users to obtain insights into calorie content, macronutrients, and dietary recommendations based on the detected ingredients. </a:t>
            </a:r>
          </a:p>
          <a:p>
            <a:pPr marL="8890" indent="-6350" algn="just">
              <a:lnSpc>
                <a:spcPct val="107000"/>
              </a:lnSpc>
              <a:spcAft>
                <a:spcPts val="210"/>
              </a:spcAft>
              <a:buNone/>
            </a:pPr>
            <a:r>
              <a:rPr lang="en-IN" sz="2400" b="1" u="sng"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Keywords:</a:t>
            </a:r>
          </a:p>
          <a:p>
            <a:pPr marL="25400" indent="-6350" algn="just">
              <a:lnSpc>
                <a:spcPct val="107000"/>
              </a:lnSpc>
              <a:spcAft>
                <a:spcPts val="210"/>
              </a:spcAft>
            </a:pPr>
            <a:r>
              <a:rPr lang="en-IN" sz="24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Food ingredient identification, deep learning, VGG16, convolutional neural network (CNN), </a:t>
            </a:r>
            <a:r>
              <a:rPr lang="en-IN" sz="2400" kern="100" dirty="0" err="1">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Groq</a:t>
            </a:r>
            <a:r>
              <a:rPr lang="en-IN" sz="24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 API, food classification, nutrition analysis, dietary monitoring, image recognition, transfer learning, multi-label classification, object detection, food computing</a:t>
            </a:r>
            <a:r>
              <a:rPr lang="en-IN" sz="20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endParaRPr lang="en-US" sz="2400" dirty="0">
              <a:solidFill>
                <a:schemeClr val="bg2"/>
              </a:solidFill>
              <a:latin typeface="Times New Roman" panose="02020603050405020304" pitchFamily="18" charset="0"/>
              <a:cs typeface="Times New Roman" panose="02020603050405020304" pitchFamily="18" charset="0"/>
            </a:endParaRPr>
          </a:p>
          <a:p>
            <a:pPr marL="8890" indent="-6350" algn="just">
              <a:lnSpc>
                <a:spcPct val="107000"/>
              </a:lnSpc>
              <a:spcAft>
                <a:spcPts val="210"/>
              </a:spcAft>
              <a:buNone/>
            </a:pPr>
            <a:endParaRPr lang="en-IN" sz="22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81992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71EB6C-BDD9-11E5-17AD-3B9997760813}"/>
              </a:ext>
            </a:extLst>
          </p:cNvPr>
          <p:cNvPicPr>
            <a:picLocks noChangeAspect="1"/>
          </p:cNvPicPr>
          <p:nvPr/>
        </p:nvPicPr>
        <p:blipFill>
          <a:blip r:embed="rId2">
            <a:alphaModFix amt="29000"/>
            <a:extLst>
              <a:ext uri="{28A0092B-C50C-407E-A947-70E740481C1C}">
                <a14:useLocalDpi xmlns:a14="http://schemas.microsoft.com/office/drawing/2010/main" val="0"/>
              </a:ext>
            </a:extLst>
          </a:blip>
          <a:stretch>
            <a:fillRect/>
          </a:stretch>
        </p:blipFill>
        <p:spPr>
          <a:xfrm>
            <a:off x="0" y="249686"/>
            <a:ext cx="12187003" cy="6599886"/>
          </a:xfrm>
          <a:prstGeom prst="rect">
            <a:avLst/>
          </a:prstGeom>
        </p:spPr>
      </p:pic>
      <p:sp>
        <p:nvSpPr>
          <p:cNvPr id="2" name="Title 1">
            <a:extLst>
              <a:ext uri="{FF2B5EF4-FFF2-40B4-BE49-F238E27FC236}">
                <a16:creationId xmlns:a16="http://schemas.microsoft.com/office/drawing/2014/main" id="{1294008D-4623-C4F7-F0C0-08FD8A3655D5}"/>
              </a:ext>
            </a:extLst>
          </p:cNvPr>
          <p:cNvSpPr>
            <a:spLocks noGrp="1"/>
          </p:cNvSpPr>
          <p:nvPr>
            <p:ph type="title"/>
          </p:nvPr>
        </p:nvSpPr>
        <p:spPr/>
        <p:txBody>
          <a:bodyPr/>
          <a:lstStyle/>
          <a:p>
            <a:r>
              <a:rPr lang="en-US" b="1" dirty="0">
                <a:solidFill>
                  <a:schemeClr val="bg2"/>
                </a:solidFill>
                <a:latin typeface="Times New Roman" panose="02020603050405020304" pitchFamily="18" charset="0"/>
                <a:cs typeface="Times New Roman" panose="02020603050405020304" pitchFamily="18" charset="0"/>
              </a:rPr>
              <a:t>INTRODUCTION</a:t>
            </a:r>
            <a:endParaRPr lang="en-IN" b="1" dirty="0">
              <a:solidFill>
                <a:schemeClr val="bg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AE619F-D480-E2D7-92E2-668210BFEC2C}"/>
              </a:ext>
            </a:extLst>
          </p:cNvPr>
          <p:cNvSpPr>
            <a:spLocks noGrp="1"/>
          </p:cNvSpPr>
          <p:nvPr>
            <p:ph idx="1"/>
          </p:nvPr>
        </p:nvSpPr>
        <p:spPr>
          <a:xfrm>
            <a:off x="838200" y="1394085"/>
            <a:ext cx="10515600" cy="4782878"/>
          </a:xfrm>
        </p:spPr>
        <p:txBody>
          <a:bodyPr>
            <a:normAutofit/>
          </a:bodyPr>
          <a:lstStyle/>
          <a:p>
            <a:pPr marL="0" indent="0">
              <a:buNone/>
            </a:pPr>
            <a:r>
              <a:rPr lang="en-US" sz="2600" dirty="0">
                <a:solidFill>
                  <a:schemeClr val="bg2"/>
                </a:solidFill>
                <a:latin typeface="Times New Roman" panose="02020603050405020304" pitchFamily="18" charset="0"/>
                <a:cs typeface="Times New Roman" panose="02020603050405020304" pitchFamily="18" charset="0"/>
              </a:rPr>
              <a:t>Identifying ingredients in food images is a challenging yet valuable task in areas like health monitoring, dietary tracking, and personalized nutrition. While traditional systems focus on recognizing the dish as a whole, they often ignore the specific ingredients — which are crucial for calorie estimation, allergy detection, and meal planning.</a:t>
            </a:r>
          </a:p>
          <a:p>
            <a:pPr marL="0" indent="0">
              <a:buNone/>
            </a:pPr>
            <a:r>
              <a:rPr lang="en-US" sz="2600" dirty="0">
                <a:solidFill>
                  <a:schemeClr val="bg2"/>
                </a:solidFill>
                <a:latin typeface="Times New Roman" panose="02020603050405020304" pitchFamily="18" charset="0"/>
                <a:cs typeface="Times New Roman" panose="02020603050405020304" pitchFamily="18" charset="0"/>
              </a:rPr>
              <a:t>                                           This project focuses on using deep learning to build a system that can automatically identify multiple ingredients from a single food image. Unlike basic classification, this involves </a:t>
            </a:r>
            <a:r>
              <a:rPr lang="en-US" sz="2600" b="1" dirty="0">
                <a:solidFill>
                  <a:schemeClr val="bg2"/>
                </a:solidFill>
                <a:latin typeface="Times New Roman" panose="02020603050405020304" pitchFamily="18" charset="0"/>
                <a:cs typeface="Times New Roman" panose="02020603050405020304" pitchFamily="18" charset="0"/>
              </a:rPr>
              <a:t>multi-label prediction</a:t>
            </a:r>
            <a:r>
              <a:rPr lang="en-US" sz="2600" dirty="0">
                <a:solidFill>
                  <a:schemeClr val="bg2"/>
                </a:solidFill>
                <a:latin typeface="Times New Roman" panose="02020603050405020304" pitchFamily="18" charset="0"/>
                <a:cs typeface="Times New Roman" panose="02020603050405020304" pitchFamily="18" charset="0"/>
              </a:rPr>
              <a:t>, since one dish can contain many ingredients. The system will leverage advanced neural networks and attention mechanisms to handle the complexity of mixed, hidden, and visually similar ingredients, aiming for high accuracy and real-world usability in smart food applications.</a:t>
            </a:r>
            <a:endParaRPr lang="en-US" dirty="0">
              <a:solidFill>
                <a:schemeClr val="bg2"/>
              </a:solidFill>
            </a:endParaRPr>
          </a:p>
          <a:p>
            <a:endParaRPr lang="en-IN" dirty="0">
              <a:solidFill>
                <a:schemeClr val="bg2"/>
              </a:solidFill>
            </a:endParaRPr>
          </a:p>
        </p:txBody>
      </p:sp>
    </p:spTree>
    <p:extLst>
      <p:ext uri="{BB962C8B-B14F-4D97-AF65-F5344CB8AC3E}">
        <p14:creationId xmlns:p14="http://schemas.microsoft.com/office/powerpoint/2010/main" val="4228726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D9A9-53D2-BF0A-FFB3-BED510955C56}"/>
              </a:ext>
            </a:extLst>
          </p:cNvPr>
          <p:cNvSpPr>
            <a:spLocks noGrp="1"/>
          </p:cNvSpPr>
          <p:nvPr>
            <p:ph type="title"/>
          </p:nvPr>
        </p:nvSpPr>
        <p:spPr>
          <a:xfrm>
            <a:off x="524656" y="125282"/>
            <a:ext cx="10829144" cy="1325563"/>
          </a:xfrm>
        </p:spPr>
        <p:txBody>
          <a:bodyPr/>
          <a:lstStyle/>
          <a:p>
            <a:r>
              <a:rPr lang="en-US" dirty="0">
                <a:solidFill>
                  <a:schemeClr val="bg1"/>
                </a:solidFill>
                <a:latin typeface="Times New Roman" panose="02020603050405020304" pitchFamily="18" charset="0"/>
                <a:cs typeface="Times New Roman" panose="02020603050405020304" pitchFamily="18" charset="0"/>
              </a:rPr>
              <a:t>Literature survey</a:t>
            </a:r>
            <a:r>
              <a:rPr lang="en-US" dirty="0">
                <a:solidFill>
                  <a:schemeClr val="bg2"/>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C642E3-35DB-2435-A482-977226FA976E}"/>
              </a:ext>
            </a:extLst>
          </p:cNvPr>
          <p:cNvSpPr>
            <a:spLocks noGrp="1"/>
          </p:cNvSpPr>
          <p:nvPr>
            <p:ph idx="1"/>
          </p:nvPr>
        </p:nvSpPr>
        <p:spPr>
          <a:xfrm>
            <a:off x="524655" y="1450844"/>
            <a:ext cx="11467475" cy="5281874"/>
          </a:xfrm>
        </p:spPr>
        <p:txBody>
          <a:bodyPr>
            <a:normAutofit lnSpcReduction="10000"/>
          </a:bodyPr>
          <a:lstStyle/>
          <a:p>
            <a:r>
              <a:rPr lang="en-IN" sz="2600" b="1" dirty="0">
                <a:solidFill>
                  <a:schemeClr val="bg2"/>
                </a:solidFill>
                <a:latin typeface="Times New Roman" panose="02020603050405020304" pitchFamily="18" charset="0"/>
                <a:cs typeface="Times New Roman" panose="02020603050405020304" pitchFamily="18" charset="0"/>
              </a:rPr>
              <a:t>Fahad Ashiq, Muhammad Asif, Maaz Bin Ahmad, Sadia Zafar, Khalid Masood, Ik Hyun Lee, (2022) - “C</a:t>
            </a:r>
            <a:r>
              <a:rPr lang="en-US" sz="2600" b="1" dirty="0">
                <a:solidFill>
                  <a:schemeClr val="bg2"/>
                </a:solidFill>
                <a:latin typeface="Times New Roman" panose="02020603050405020304" pitchFamily="18" charset="0"/>
                <a:cs typeface="Times New Roman" panose="02020603050405020304" pitchFamily="18" charset="0"/>
              </a:rPr>
              <a:t>NN-Based Object Recognition and Tracking System to Assist Visually Impaired People” :     </a:t>
            </a:r>
          </a:p>
          <a:p>
            <a:pPr marL="0" indent="0">
              <a:buNone/>
            </a:pPr>
            <a:r>
              <a:rPr lang="en-US" sz="2400" b="1" dirty="0">
                <a:solidFill>
                  <a:schemeClr val="bg2"/>
                </a:solidFill>
                <a:latin typeface="Times New Roman" panose="02020603050405020304" pitchFamily="18" charset="0"/>
                <a:cs typeface="Times New Roman" panose="02020603050405020304" pitchFamily="18" charset="0"/>
              </a:rPr>
              <a:t>               </a:t>
            </a:r>
            <a:r>
              <a:rPr lang="en-US" sz="2400" dirty="0">
                <a:solidFill>
                  <a:schemeClr val="bg2"/>
                </a:solidFill>
                <a:latin typeface="Times New Roman" panose="02020603050405020304" pitchFamily="18" charset="0"/>
                <a:cs typeface="Times New Roman" panose="02020603050405020304" pitchFamily="18" charset="0"/>
              </a:rPr>
              <a:t>The paper proposes a system that utilizes </a:t>
            </a:r>
            <a:r>
              <a:rPr lang="en-US" sz="2400" b="1" dirty="0">
                <a:solidFill>
                  <a:schemeClr val="bg2"/>
                </a:solidFill>
                <a:latin typeface="Times New Roman" panose="02020603050405020304" pitchFamily="18" charset="0"/>
                <a:cs typeface="Times New Roman" panose="02020603050405020304" pitchFamily="18" charset="0"/>
              </a:rPr>
              <a:t>Convolutional Neural Networks (CNNs), </a:t>
            </a:r>
            <a:r>
              <a:rPr lang="en-US" sz="2400" dirty="0">
                <a:solidFill>
                  <a:schemeClr val="bg2"/>
                </a:solidFill>
                <a:latin typeface="Times New Roman" panose="02020603050405020304" pitchFamily="18" charset="0"/>
                <a:cs typeface="Times New Roman" panose="02020603050405020304" pitchFamily="18" charset="0"/>
              </a:rPr>
              <a:t>which are a type of deep learning model commonly used for computer vision tasks such as object recognition and tracking. </a:t>
            </a:r>
          </a:p>
          <a:p>
            <a:pPr marL="0" indent="0">
              <a:buNone/>
            </a:pPr>
            <a:endParaRPr lang="en-US" sz="2400" b="1" dirty="0">
              <a:solidFill>
                <a:schemeClr val="bg2"/>
              </a:solidFill>
              <a:latin typeface="Times New Roman" panose="02020603050405020304" pitchFamily="18" charset="0"/>
              <a:cs typeface="Times New Roman" panose="02020603050405020304" pitchFamily="18" charset="0"/>
            </a:endParaRPr>
          </a:p>
          <a:p>
            <a:r>
              <a:rPr lang="en-IN" sz="2600" b="1" dirty="0">
                <a:solidFill>
                  <a:schemeClr val="bg2"/>
                </a:solidFill>
                <a:latin typeface="Times New Roman" panose="02020603050405020304" pitchFamily="18" charset="0"/>
                <a:cs typeface="Times New Roman" panose="02020603050405020304" pitchFamily="18" charset="0"/>
              </a:rPr>
              <a:t>Mogan </a:t>
            </a:r>
            <a:r>
              <a:rPr lang="en-IN" sz="2600" b="1" dirty="0" err="1">
                <a:solidFill>
                  <a:schemeClr val="bg2"/>
                </a:solidFill>
                <a:latin typeface="Times New Roman" panose="02020603050405020304" pitchFamily="18" charset="0"/>
                <a:cs typeface="Times New Roman" panose="02020603050405020304" pitchFamily="18" charset="0"/>
              </a:rPr>
              <a:t>Gim</a:t>
            </a:r>
            <a:r>
              <a:rPr lang="en-IN" sz="2600" b="1" dirty="0">
                <a:solidFill>
                  <a:schemeClr val="bg2"/>
                </a:solidFill>
                <a:latin typeface="Times New Roman" panose="02020603050405020304" pitchFamily="18" charset="0"/>
                <a:cs typeface="Times New Roman" panose="02020603050405020304" pitchFamily="18" charset="0"/>
              </a:rPr>
              <a:t>, </a:t>
            </a:r>
            <a:r>
              <a:rPr lang="en-IN" sz="2600" b="1" dirty="0" err="1">
                <a:solidFill>
                  <a:schemeClr val="bg2"/>
                </a:solidFill>
                <a:latin typeface="Times New Roman" panose="02020603050405020304" pitchFamily="18" charset="0"/>
                <a:cs typeface="Times New Roman" panose="02020603050405020304" pitchFamily="18" charset="0"/>
              </a:rPr>
              <a:t>Donghee</a:t>
            </a:r>
            <a:r>
              <a:rPr lang="en-IN" sz="2600" b="1" dirty="0">
                <a:solidFill>
                  <a:schemeClr val="bg2"/>
                </a:solidFill>
                <a:latin typeface="Times New Roman" panose="02020603050405020304" pitchFamily="18" charset="0"/>
                <a:cs typeface="Times New Roman" panose="02020603050405020304" pitchFamily="18" charset="0"/>
              </a:rPr>
              <a:t> Choi, Jihun Choi, </a:t>
            </a:r>
            <a:r>
              <a:rPr lang="en-IN" sz="2600" b="1" dirty="0" err="1">
                <a:solidFill>
                  <a:schemeClr val="bg2"/>
                </a:solidFill>
                <a:latin typeface="Times New Roman" panose="02020603050405020304" pitchFamily="18" charset="0"/>
                <a:cs typeface="Times New Roman" panose="02020603050405020304" pitchFamily="18" charset="0"/>
              </a:rPr>
              <a:t>Hajung</a:t>
            </a:r>
            <a:r>
              <a:rPr lang="en-IN" sz="2600" b="1" dirty="0">
                <a:solidFill>
                  <a:schemeClr val="bg2"/>
                </a:solidFill>
                <a:latin typeface="Times New Roman" panose="02020603050405020304" pitchFamily="18" charset="0"/>
                <a:cs typeface="Times New Roman" panose="02020603050405020304" pitchFamily="18" charset="0"/>
              </a:rPr>
              <a:t> Kim and Jaewoo Kang(CIKM 2022) – “R</a:t>
            </a:r>
            <a:r>
              <a:rPr lang="en-US" sz="2600" b="1" dirty="0" err="1">
                <a:solidFill>
                  <a:schemeClr val="bg2"/>
                </a:solidFill>
                <a:latin typeface="Times New Roman" panose="02020603050405020304" pitchFamily="18" charset="0"/>
                <a:cs typeface="Times New Roman" panose="02020603050405020304" pitchFamily="18" charset="0"/>
              </a:rPr>
              <a:t>ecipe</a:t>
            </a:r>
            <a:r>
              <a:rPr lang="en-US" sz="2600" b="1" dirty="0">
                <a:solidFill>
                  <a:schemeClr val="bg2"/>
                </a:solidFill>
                <a:latin typeface="Times New Roman" panose="02020603050405020304" pitchFamily="18" charset="0"/>
                <a:cs typeface="Times New Roman" panose="02020603050405020304" pitchFamily="18" charset="0"/>
              </a:rPr>
              <a:t> Mind: Guiding Ingredient Choices from Food Pairing to Recipe Completion using Cascaded Set Transformer” :</a:t>
            </a:r>
          </a:p>
          <a:p>
            <a:pPr marL="0" indent="0">
              <a:buNone/>
            </a:pPr>
            <a:r>
              <a:rPr lang="en-US" sz="1600" dirty="0">
                <a:solidFill>
                  <a:schemeClr val="bg2"/>
                </a:solidFill>
                <a:latin typeface="Times New Roman" panose="02020603050405020304" pitchFamily="18" charset="0"/>
                <a:cs typeface="Times New Roman" panose="02020603050405020304" pitchFamily="18" charset="0"/>
              </a:rPr>
              <a:t>                       </a:t>
            </a:r>
            <a:r>
              <a:rPr lang="en-US" sz="2400" dirty="0">
                <a:solidFill>
                  <a:schemeClr val="bg2"/>
                </a:solidFill>
                <a:latin typeface="Times New Roman" panose="02020603050405020304" pitchFamily="18" charset="0"/>
                <a:cs typeface="Times New Roman" panose="02020603050405020304" pitchFamily="18" charset="0"/>
              </a:rPr>
              <a:t>The paper aims to develop a tool that would help in pairing various ingredients from different cuisines and suggest an alternate ingredient. The goal is to support the creation of novel recipes and, by suggesting substitute ingredients, assist those who are allergic to particular ingredients. </a:t>
            </a:r>
            <a:endParaRPr lang="en-IN" sz="2400"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124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4D3EB7-3CE7-1ACE-F14E-9818BB5DD23F}"/>
              </a:ext>
            </a:extLst>
          </p:cNvPr>
          <p:cNvSpPr>
            <a:spLocks noGrp="1"/>
          </p:cNvSpPr>
          <p:nvPr>
            <p:ph idx="1"/>
          </p:nvPr>
        </p:nvSpPr>
        <p:spPr>
          <a:xfrm>
            <a:off x="554636" y="989351"/>
            <a:ext cx="10799164" cy="5187612"/>
          </a:xfrm>
        </p:spPr>
        <p:txBody>
          <a:bodyPr>
            <a:normAutofit/>
          </a:bodyPr>
          <a:lstStyle/>
          <a:p>
            <a:r>
              <a:rPr lang="en-US" sz="2600" b="1" dirty="0">
                <a:solidFill>
                  <a:schemeClr val="bg2"/>
                </a:solidFill>
                <a:latin typeface="Times New Roman" panose="02020603050405020304" pitchFamily="18" charset="0"/>
                <a:cs typeface="Times New Roman" panose="02020603050405020304" pitchFamily="18" charset="0"/>
              </a:rPr>
              <a:t>Gusti </a:t>
            </a:r>
            <a:r>
              <a:rPr lang="en-US" sz="2600" b="1" dirty="0" err="1">
                <a:solidFill>
                  <a:schemeClr val="bg2"/>
                </a:solidFill>
                <a:latin typeface="Times New Roman" panose="02020603050405020304" pitchFamily="18" charset="0"/>
                <a:cs typeface="Times New Roman" panose="02020603050405020304" pitchFamily="18" charset="0"/>
              </a:rPr>
              <a:t>Pangestu</a:t>
            </a:r>
            <a:r>
              <a:rPr lang="en-US" sz="2600" b="1" dirty="0">
                <a:solidFill>
                  <a:schemeClr val="bg2"/>
                </a:solidFill>
                <a:latin typeface="Times New Roman" panose="02020603050405020304" pitchFamily="18" charset="0"/>
                <a:cs typeface="Times New Roman" panose="02020603050405020304" pitchFamily="18" charset="0"/>
              </a:rPr>
              <a:t>, Afif </a:t>
            </a:r>
            <a:r>
              <a:rPr lang="en-US" sz="2600" b="1" dirty="0" err="1">
                <a:solidFill>
                  <a:schemeClr val="bg2"/>
                </a:solidFill>
                <a:latin typeface="Times New Roman" panose="02020603050405020304" pitchFamily="18" charset="0"/>
                <a:cs typeface="Times New Roman" panose="02020603050405020304" pitchFamily="18" charset="0"/>
              </a:rPr>
              <a:t>Supianto</a:t>
            </a:r>
            <a:r>
              <a:rPr lang="en-US" sz="2600" b="1" dirty="0">
                <a:solidFill>
                  <a:schemeClr val="bg2"/>
                </a:solidFill>
                <a:latin typeface="Times New Roman" panose="02020603050405020304" pitchFamily="18" charset="0"/>
                <a:cs typeface="Times New Roman" panose="02020603050405020304" pitchFamily="18" charset="0"/>
              </a:rPr>
              <a:t>, and </a:t>
            </a:r>
            <a:r>
              <a:rPr lang="en-US" sz="2600" b="1" dirty="0" err="1">
                <a:solidFill>
                  <a:schemeClr val="bg2"/>
                </a:solidFill>
                <a:latin typeface="Times New Roman" panose="02020603050405020304" pitchFamily="18" charset="0"/>
                <a:cs typeface="Times New Roman" panose="02020603050405020304" pitchFamily="18" charset="0"/>
              </a:rPr>
              <a:t>Fitri</a:t>
            </a:r>
            <a:r>
              <a:rPr lang="en-US" sz="2600" b="1" dirty="0">
                <a:solidFill>
                  <a:schemeClr val="bg2"/>
                </a:solidFill>
                <a:latin typeface="Times New Roman" panose="02020603050405020304" pitchFamily="18" charset="0"/>
                <a:cs typeface="Times New Roman" panose="02020603050405020304" pitchFamily="18" charset="0"/>
              </a:rPr>
              <a:t> </a:t>
            </a:r>
            <a:r>
              <a:rPr lang="en-US" sz="2600" b="1" dirty="0" err="1">
                <a:solidFill>
                  <a:schemeClr val="bg2"/>
                </a:solidFill>
                <a:latin typeface="Times New Roman" panose="02020603050405020304" pitchFamily="18" charset="0"/>
                <a:cs typeface="Times New Roman" panose="02020603050405020304" pitchFamily="18" charset="0"/>
              </a:rPr>
              <a:t>Utaminingrum</a:t>
            </a:r>
            <a:r>
              <a:rPr lang="en-US" sz="2600" b="1" dirty="0">
                <a:solidFill>
                  <a:schemeClr val="bg2"/>
                </a:solidFill>
                <a:latin typeface="Times New Roman" panose="02020603050405020304" pitchFamily="18" charset="0"/>
                <a:cs typeface="Times New Roman" panose="02020603050405020304" pitchFamily="18" charset="0"/>
              </a:rPr>
              <a:t> (2018) – “Food Recipe Finder Mobile Applications Based On Similarity Of Materials” :</a:t>
            </a:r>
          </a:p>
          <a:p>
            <a:pPr marL="0" indent="0">
              <a:buNone/>
            </a:pPr>
            <a:r>
              <a:rPr lang="en-US" sz="2400" dirty="0">
                <a:solidFill>
                  <a:schemeClr val="bg2"/>
                </a:solidFill>
                <a:latin typeface="Times New Roman" panose="02020603050405020304" pitchFamily="18" charset="0"/>
                <a:cs typeface="Times New Roman" panose="02020603050405020304" pitchFamily="18" charset="0"/>
              </a:rPr>
              <a:t>                                   The application utilizes content-based filtering techniques, specifically Term Frequency-Inverse Document Frequency (TF-IDF) and Cosine Similarity, to recommend recipes that match the user's input ingredients.</a:t>
            </a:r>
          </a:p>
          <a:p>
            <a:pPr marL="0" indent="0">
              <a:buNone/>
            </a:pPr>
            <a:endParaRPr lang="en-US" sz="2400" dirty="0">
              <a:solidFill>
                <a:schemeClr val="bg2"/>
              </a:solidFill>
              <a:latin typeface="Times New Roman" panose="02020603050405020304" pitchFamily="18" charset="0"/>
              <a:cs typeface="Times New Roman" panose="02020603050405020304" pitchFamily="18" charset="0"/>
            </a:endParaRPr>
          </a:p>
          <a:p>
            <a:r>
              <a:rPr lang="en-IN" sz="2600" b="1" dirty="0">
                <a:solidFill>
                  <a:schemeClr val="bg2"/>
                </a:solidFill>
                <a:latin typeface="Times New Roman" panose="02020603050405020304" pitchFamily="18" charset="0"/>
                <a:cs typeface="Times New Roman" panose="02020603050405020304" pitchFamily="18" charset="0"/>
              </a:rPr>
              <a:t>M.S. Rojas, F. Ferrer, and A. Orozco (2023) – “</a:t>
            </a:r>
            <a:r>
              <a:rPr lang="en-US" sz="2600" b="1" dirty="0" err="1">
                <a:solidFill>
                  <a:schemeClr val="bg2"/>
                </a:solidFill>
                <a:latin typeface="Times New Roman" panose="02020603050405020304" pitchFamily="18" charset="0"/>
                <a:cs typeface="Times New Roman" panose="02020603050405020304" pitchFamily="18" charset="0"/>
              </a:rPr>
              <a:t>RecipeIS</a:t>
            </a:r>
            <a:r>
              <a:rPr lang="en-US" sz="2600" b="1" dirty="0">
                <a:solidFill>
                  <a:schemeClr val="bg2"/>
                </a:solidFill>
                <a:latin typeface="Times New Roman" panose="02020603050405020304" pitchFamily="18" charset="0"/>
                <a:cs typeface="Times New Roman" panose="02020603050405020304" pitchFamily="18" charset="0"/>
              </a:rPr>
              <a:t>—Recipe Recommendation System Based on Recognition of Food Ingredients” :</a:t>
            </a:r>
          </a:p>
          <a:p>
            <a:pPr marL="0" indent="0">
              <a:buNone/>
            </a:pPr>
            <a:r>
              <a:rPr lang="en-US" sz="2400" dirty="0">
                <a:solidFill>
                  <a:schemeClr val="bg2"/>
                </a:solidFill>
                <a:latin typeface="Times New Roman" panose="02020603050405020304" pitchFamily="18" charset="0"/>
                <a:cs typeface="Times New Roman" panose="02020603050405020304" pitchFamily="18" charset="0"/>
              </a:rPr>
              <a:t>                                    </a:t>
            </a:r>
            <a:r>
              <a:rPr lang="en-US" sz="2400" dirty="0" err="1">
                <a:solidFill>
                  <a:schemeClr val="bg2"/>
                </a:solidFill>
                <a:latin typeface="Times New Roman" panose="02020603050405020304" pitchFamily="18" charset="0"/>
                <a:cs typeface="Times New Roman" panose="02020603050405020304" pitchFamily="18" charset="0"/>
              </a:rPr>
              <a:t>RecipeIS</a:t>
            </a:r>
            <a:r>
              <a:rPr lang="en-US" sz="2400" dirty="0">
                <a:solidFill>
                  <a:schemeClr val="bg2"/>
                </a:solidFill>
                <a:latin typeface="Times New Roman" panose="02020603050405020304" pitchFamily="18" charset="0"/>
                <a:cs typeface="Times New Roman" panose="02020603050405020304" pitchFamily="18" charset="0"/>
              </a:rPr>
              <a:t> utilizes a ResNet-50 convolutional neural network model to recognize food ingredients from images. The model was trained on a dataset containing 36 classes of fruits and vegetables. Upon recognizing an ingredient, the system employs the </a:t>
            </a:r>
            <a:r>
              <a:rPr lang="en-US" sz="2400" dirty="0" err="1">
                <a:solidFill>
                  <a:schemeClr val="bg2"/>
                </a:solidFill>
                <a:latin typeface="Times New Roman" panose="02020603050405020304" pitchFamily="18" charset="0"/>
                <a:cs typeface="Times New Roman" panose="02020603050405020304" pitchFamily="18" charset="0"/>
              </a:rPr>
              <a:t>Edamam</a:t>
            </a:r>
            <a:r>
              <a:rPr lang="en-US" sz="2400" dirty="0">
                <a:solidFill>
                  <a:schemeClr val="bg2"/>
                </a:solidFill>
                <a:latin typeface="Times New Roman" panose="02020603050405020304" pitchFamily="18" charset="0"/>
                <a:cs typeface="Times New Roman" panose="02020603050405020304" pitchFamily="18" charset="0"/>
              </a:rPr>
              <a:t> API to retrieve and display relevant recipes, including nutritional information and cooking instructions</a:t>
            </a:r>
            <a:endParaRPr lang="en-IN" sz="2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0443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BBB03-C9ED-7AE2-7BA5-84EF5CAC357A}"/>
              </a:ext>
            </a:extLst>
          </p:cNvPr>
          <p:cNvSpPr>
            <a:spLocks noGrp="1"/>
          </p:cNvSpPr>
          <p:nvPr>
            <p:ph type="title"/>
          </p:nvPr>
        </p:nvSpPr>
        <p:spPr>
          <a:xfrm>
            <a:off x="4601230" y="599621"/>
            <a:ext cx="7245578" cy="2914326"/>
          </a:xfrm>
          <a:noFill/>
        </p:spPr>
        <p:txBody>
          <a:bodyPr vert="horz" lIns="91440" tIns="45720" rIns="91440" bIns="45720" rtlCol="0" anchor="b">
            <a:normAutofit/>
          </a:bodyPr>
          <a:lstStyle/>
          <a:p>
            <a:endParaRPr lang="en-US" sz="4800" dirty="0">
              <a:solidFill>
                <a:schemeClr val="bg1"/>
              </a:solidFill>
            </a:endParaRPr>
          </a:p>
          <a:p>
            <a:endParaRPr lang="en-US" sz="4800" dirty="0">
              <a:solidFill>
                <a:schemeClr val="bg1"/>
              </a:solidFill>
            </a:endParaRPr>
          </a:p>
          <a:p>
            <a:endParaRPr lang="en-US" sz="4800" dirty="0">
              <a:solidFill>
                <a:schemeClr val="bg1"/>
              </a:solidFill>
            </a:endParaRPr>
          </a:p>
        </p:txBody>
      </p:sp>
      <p:pic>
        <p:nvPicPr>
          <p:cNvPr id="7" name="Content Placeholder 6" descr="Businessman Touching Chin with Question Mark. Clipart Picture of a Male  Business , #affiliate, #Question, #M… | Cartoon question mark, Cartoon boy,  Cartoon clip art">
            <a:extLst>
              <a:ext uri="{FF2B5EF4-FFF2-40B4-BE49-F238E27FC236}">
                <a16:creationId xmlns:a16="http://schemas.microsoft.com/office/drawing/2014/main" id="{758569A2-9923-DAF3-3BF9-72E337A73AD4}"/>
              </a:ext>
            </a:extLst>
          </p:cNvPr>
          <p:cNvPicPr>
            <a:picLocks noGrp="1" noChangeAspect="1"/>
          </p:cNvPicPr>
          <p:nvPr>
            <p:ph sz="half" idx="2"/>
          </p:nvPr>
        </p:nvPicPr>
        <p:blipFill>
          <a:blip r:embed="rId2"/>
          <a:srcRect l="1206" r="2" b="2"/>
          <a:stretch/>
        </p:blipFill>
        <p:spPr>
          <a:xfrm>
            <a:off x="225682" y="779238"/>
            <a:ext cx="3690839" cy="5692475"/>
          </a:xfrm>
          <a:prstGeom prst="rect">
            <a:avLst/>
          </a:prstGeom>
        </p:spPr>
      </p:pic>
      <p:sp>
        <p:nvSpPr>
          <p:cNvPr id="8" name="Content Placeholder 8">
            <a:extLst>
              <a:ext uri="{FF2B5EF4-FFF2-40B4-BE49-F238E27FC236}">
                <a16:creationId xmlns:a16="http://schemas.microsoft.com/office/drawing/2014/main" id="{9E99C5CA-9AEB-1FAC-F9F6-5E37C15A7841}"/>
              </a:ext>
            </a:extLst>
          </p:cNvPr>
          <p:cNvSpPr>
            <a:spLocks noGrp="1"/>
          </p:cNvSpPr>
          <p:nvPr/>
        </p:nvSpPr>
        <p:spPr>
          <a:xfrm>
            <a:off x="4434217" y="2312653"/>
            <a:ext cx="7612338" cy="4206729"/>
          </a:xfrm>
          <a:prstGeom prst="rect">
            <a:avLst/>
          </a:prstGeom>
          <a:no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solidFill>
                <a:schemeClr val="bg1"/>
              </a:solidFill>
            </a:endParaRPr>
          </a:p>
          <a:p>
            <a:endParaRPr lang="en-US" sz="1000">
              <a:solidFill>
                <a:schemeClr val="bg1"/>
              </a:solidFill>
            </a:endParaRPr>
          </a:p>
        </p:txBody>
      </p:sp>
      <p:sp>
        <p:nvSpPr>
          <p:cNvPr id="9" name="TextBox 8">
            <a:extLst>
              <a:ext uri="{FF2B5EF4-FFF2-40B4-BE49-F238E27FC236}">
                <a16:creationId xmlns:a16="http://schemas.microsoft.com/office/drawing/2014/main" id="{3AAF19FA-8DDB-5510-143D-B6E40D57B661}"/>
              </a:ext>
            </a:extLst>
          </p:cNvPr>
          <p:cNvSpPr txBox="1"/>
          <p:nvPr/>
        </p:nvSpPr>
        <p:spPr>
          <a:xfrm>
            <a:off x="4033077" y="1112327"/>
            <a:ext cx="8158923"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chemeClr val="bg2"/>
                </a:solidFill>
                <a:latin typeface="Times New Roman" panose="02020603050405020304" pitchFamily="18" charset="0"/>
                <a:cs typeface="Times New Roman" panose="02020603050405020304" pitchFamily="18" charset="0"/>
              </a:rPr>
              <a:t>1.Multi-Label Ingredient Detection from Food Images</a:t>
            </a:r>
            <a:endParaRPr lang="en-US" sz="2200" dirty="0">
              <a:solidFill>
                <a:schemeClr val="bg2"/>
              </a:solidFill>
              <a:latin typeface="Times New Roman" panose="02020603050405020304" pitchFamily="18" charset="0"/>
              <a:cs typeface="Times New Roman" panose="02020603050405020304" pitchFamily="18" charset="0"/>
            </a:endParaRPr>
          </a:p>
          <a:p>
            <a:r>
              <a:rPr lang="en-US" sz="2200" dirty="0">
                <a:solidFill>
                  <a:schemeClr val="bg2"/>
                </a:solidFill>
                <a:latin typeface="Times New Roman" panose="02020603050405020304" pitchFamily="18" charset="0"/>
                <a:cs typeface="Times New Roman" panose="02020603050405020304" pitchFamily="18" charset="0"/>
              </a:rPr>
              <a:t>          This project aims to address this gap by developing a deep learning model that can perform </a:t>
            </a:r>
            <a:r>
              <a:rPr lang="en-US" sz="2200" b="1" dirty="0">
                <a:solidFill>
                  <a:schemeClr val="bg2"/>
                </a:solidFill>
                <a:latin typeface="Times New Roman" panose="02020603050405020304" pitchFamily="18" charset="0"/>
                <a:cs typeface="Times New Roman" panose="02020603050405020304" pitchFamily="18" charset="0"/>
              </a:rPr>
              <a:t>multi-label classification</a:t>
            </a:r>
            <a:r>
              <a:rPr lang="en-US" sz="2200" dirty="0">
                <a:solidFill>
                  <a:schemeClr val="bg2"/>
                </a:solidFill>
                <a:latin typeface="Times New Roman" panose="02020603050405020304" pitchFamily="18" charset="0"/>
                <a:cs typeface="Times New Roman" panose="02020603050405020304" pitchFamily="18" charset="0"/>
              </a:rPr>
              <a:t> to detect </a:t>
            </a:r>
            <a:r>
              <a:rPr lang="en-US" sz="2200" b="1" dirty="0">
                <a:solidFill>
                  <a:schemeClr val="bg2"/>
                </a:solidFill>
                <a:latin typeface="Times New Roman" panose="02020603050405020304" pitchFamily="18" charset="0"/>
                <a:cs typeface="Times New Roman" panose="02020603050405020304" pitchFamily="18" charset="0"/>
              </a:rPr>
              <a:t>multiple ingredients</a:t>
            </a:r>
            <a:r>
              <a:rPr lang="en-US" sz="2200" dirty="0">
                <a:solidFill>
                  <a:schemeClr val="bg2"/>
                </a:solidFill>
                <a:latin typeface="Times New Roman" panose="02020603050405020304" pitchFamily="18" charset="0"/>
                <a:cs typeface="Times New Roman" panose="02020603050405020304" pitchFamily="18" charset="0"/>
              </a:rPr>
              <a:t> from a single image of a food item, enabling more personalized and health-conscious dietary applications.</a:t>
            </a:r>
          </a:p>
          <a:p>
            <a:r>
              <a:rPr lang="en-US" sz="2200" b="1" dirty="0">
                <a:solidFill>
                  <a:schemeClr val="bg2"/>
                </a:solidFill>
                <a:latin typeface="Times New Roman" panose="02020603050405020304" pitchFamily="18" charset="0"/>
                <a:ea typeface="+mn-lt"/>
                <a:cs typeface="Times New Roman" panose="02020603050405020304" pitchFamily="18" charset="0"/>
              </a:rPr>
              <a:t>2.Fine-Grained Ingredient Recognition for Personalized Nutrition</a:t>
            </a:r>
            <a:endParaRPr lang="en-US" sz="2200" b="1" dirty="0">
              <a:solidFill>
                <a:schemeClr val="bg2"/>
              </a:solidFill>
              <a:latin typeface="Times New Roman" panose="02020603050405020304" pitchFamily="18" charset="0"/>
              <a:cs typeface="Times New Roman" panose="02020603050405020304" pitchFamily="18" charset="0"/>
            </a:endParaRPr>
          </a:p>
          <a:p>
            <a:r>
              <a:rPr lang="en-US" sz="2200" dirty="0">
                <a:solidFill>
                  <a:schemeClr val="bg2"/>
                </a:solidFill>
                <a:latin typeface="Times New Roman" panose="02020603050405020304" pitchFamily="18" charset="0"/>
                <a:ea typeface="+mn-lt"/>
                <a:cs typeface="Times New Roman" panose="02020603050405020304" pitchFamily="18" charset="0"/>
              </a:rPr>
              <a:t>        Existing food recognition systems lack the ability to accurately detect the </a:t>
            </a:r>
            <a:r>
              <a:rPr lang="en-US" sz="2200" b="1" dirty="0">
                <a:solidFill>
                  <a:schemeClr val="bg2"/>
                </a:solidFill>
                <a:latin typeface="Times New Roman" panose="02020603050405020304" pitchFamily="18" charset="0"/>
                <a:ea typeface="+mn-lt"/>
                <a:cs typeface="Times New Roman" panose="02020603050405020304" pitchFamily="18" charset="0"/>
              </a:rPr>
              <a:t>specific ingredients</a:t>
            </a:r>
            <a:r>
              <a:rPr lang="en-US" sz="2200" dirty="0">
                <a:solidFill>
                  <a:schemeClr val="bg2"/>
                </a:solidFill>
                <a:latin typeface="Times New Roman" panose="02020603050405020304" pitchFamily="18" charset="0"/>
                <a:ea typeface="+mn-lt"/>
                <a:cs typeface="Times New Roman" panose="02020603050405020304" pitchFamily="18" charset="0"/>
              </a:rPr>
              <a:t> in a dish, which is crucial for applications like </a:t>
            </a:r>
            <a:r>
              <a:rPr lang="en-US" sz="2200" b="1" dirty="0">
                <a:solidFill>
                  <a:schemeClr val="bg2"/>
                </a:solidFill>
                <a:latin typeface="Times New Roman" panose="02020603050405020304" pitchFamily="18" charset="0"/>
                <a:ea typeface="+mn-lt"/>
                <a:cs typeface="Times New Roman" panose="02020603050405020304" pitchFamily="18" charset="0"/>
              </a:rPr>
              <a:t>nutrition tracking, allergy prevention, and dietary planning</a:t>
            </a:r>
            <a:r>
              <a:rPr lang="en-US" sz="2200" dirty="0">
                <a:solidFill>
                  <a:schemeClr val="bg2"/>
                </a:solidFill>
                <a:latin typeface="Times New Roman" panose="02020603050405020304" pitchFamily="18" charset="0"/>
                <a:ea typeface="+mn-lt"/>
                <a:cs typeface="Times New Roman" panose="02020603050405020304" pitchFamily="18" charset="0"/>
              </a:rPr>
              <a:t>.</a:t>
            </a:r>
            <a:endParaRPr lang="en-US" sz="2200" dirty="0">
              <a:solidFill>
                <a:schemeClr val="bg2"/>
              </a:solidFill>
              <a:latin typeface="Times New Roman" panose="02020603050405020304" pitchFamily="18" charset="0"/>
              <a:cs typeface="Times New Roman" panose="02020603050405020304" pitchFamily="18" charset="0"/>
            </a:endParaRPr>
          </a:p>
          <a:p>
            <a:r>
              <a:rPr lang="en-US" sz="2200" b="1" dirty="0">
                <a:solidFill>
                  <a:schemeClr val="bg2"/>
                </a:solidFill>
                <a:latin typeface="Times New Roman" panose="02020603050405020304" pitchFamily="18" charset="0"/>
                <a:ea typeface="+mn-lt"/>
                <a:cs typeface="Times New Roman" panose="02020603050405020304" pitchFamily="18" charset="0"/>
              </a:rPr>
              <a:t>3.Visual Ingredient Analysis for Health-Aware Food Logging</a:t>
            </a:r>
          </a:p>
          <a:p>
            <a:r>
              <a:rPr lang="en-US" sz="2200" b="1" dirty="0">
                <a:solidFill>
                  <a:schemeClr val="bg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2"/>
                </a:solidFill>
                <a:latin typeface="Times New Roman" panose="02020603050405020304" pitchFamily="18" charset="0"/>
                <a:ea typeface="+mn-lt"/>
                <a:cs typeface="Times New Roman" panose="02020603050405020304" pitchFamily="18" charset="0"/>
              </a:rPr>
              <a:t>This project develops a deep learning-based visual recognition system capable of identifying </a:t>
            </a:r>
            <a:r>
              <a:rPr lang="en-US" sz="2200" b="1" dirty="0">
                <a:solidFill>
                  <a:schemeClr val="bg2"/>
                </a:solidFill>
                <a:latin typeface="Times New Roman" panose="02020603050405020304" pitchFamily="18" charset="0"/>
                <a:ea typeface="+mn-lt"/>
                <a:cs typeface="Times New Roman" panose="02020603050405020304" pitchFamily="18" charset="0"/>
              </a:rPr>
              <a:t>each ingredient present</a:t>
            </a:r>
            <a:r>
              <a:rPr lang="en-US" sz="2200" dirty="0">
                <a:solidFill>
                  <a:schemeClr val="bg2"/>
                </a:solidFill>
                <a:latin typeface="Times New Roman" panose="02020603050405020304" pitchFamily="18" charset="0"/>
                <a:ea typeface="+mn-lt"/>
                <a:cs typeface="Times New Roman" panose="02020603050405020304" pitchFamily="18" charset="0"/>
              </a:rPr>
              <a:t> in a food item from an image, enabling more detailed </a:t>
            </a:r>
            <a:r>
              <a:rPr lang="en-US" sz="2200" b="1" dirty="0">
                <a:solidFill>
                  <a:schemeClr val="bg2"/>
                </a:solidFill>
                <a:latin typeface="Times New Roman" panose="02020603050405020304" pitchFamily="18" charset="0"/>
                <a:ea typeface="+mn-lt"/>
                <a:cs typeface="Times New Roman" panose="02020603050405020304" pitchFamily="18" charset="0"/>
              </a:rPr>
              <a:t>health monitoring and caloric estimation</a:t>
            </a:r>
            <a:r>
              <a:rPr lang="en-US" sz="2200" dirty="0">
                <a:solidFill>
                  <a:schemeClr val="bg2"/>
                </a:solidFill>
                <a:latin typeface="Times New Roman" panose="02020603050405020304" pitchFamily="18" charset="0"/>
                <a:ea typeface="+mn-lt"/>
                <a:cs typeface="Times New Roman" panose="02020603050405020304" pitchFamily="18" charset="0"/>
              </a:rPr>
              <a:t>.</a:t>
            </a:r>
            <a:endParaRPr lang="en-US" sz="2200" b="1"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2262AFE-7FC9-0B76-E5CB-EBAB89ADB0F4}"/>
              </a:ext>
            </a:extLst>
          </p:cNvPr>
          <p:cNvSpPr txBox="1"/>
          <p:nvPr/>
        </p:nvSpPr>
        <p:spPr>
          <a:xfrm>
            <a:off x="4016261" y="286004"/>
            <a:ext cx="7404754" cy="830997"/>
          </a:xfrm>
          <a:prstGeom prst="rect">
            <a:avLst/>
          </a:prstGeom>
          <a:noFill/>
        </p:spPr>
        <p:txBody>
          <a:bodyPr wrap="square" rtlCol="0">
            <a:spAutoFit/>
          </a:bodyPr>
          <a:lstStyle/>
          <a:p>
            <a:r>
              <a:rPr lang="en-US" sz="4800" b="1" dirty="0">
                <a:solidFill>
                  <a:schemeClr val="bg2"/>
                </a:solidFill>
                <a:latin typeface="Times New Roman" panose="02020603050405020304" pitchFamily="18" charset="0"/>
                <a:cs typeface="Times New Roman" panose="02020603050405020304" pitchFamily="18" charset="0"/>
              </a:rPr>
              <a:t>PROBLEM STATEMENT </a:t>
            </a:r>
            <a:endParaRPr lang="en-IN"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685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CB92-C415-C1F5-6A51-76ACE49D7BD4}"/>
              </a:ext>
            </a:extLst>
          </p:cNvPr>
          <p:cNvSpPr>
            <a:spLocks noGrp="1"/>
          </p:cNvSpPr>
          <p:nvPr>
            <p:ph type="title"/>
          </p:nvPr>
        </p:nvSpPr>
        <p:spPr>
          <a:xfrm>
            <a:off x="239843" y="-11789"/>
            <a:ext cx="11263859" cy="1315934"/>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EXISTING SYSTEM </a:t>
            </a:r>
            <a:r>
              <a:rPr lang="en-US" sz="4800" b="1" dirty="0">
                <a:solidFill>
                  <a:schemeClr val="bg2"/>
                </a:solidFill>
              </a:rPr>
              <a:t>:</a:t>
            </a:r>
            <a:endParaRPr lang="en-IN" sz="4800" b="1" dirty="0">
              <a:solidFill>
                <a:schemeClr val="bg2"/>
              </a:solidFill>
            </a:endParaRPr>
          </a:p>
        </p:txBody>
      </p:sp>
      <p:sp>
        <p:nvSpPr>
          <p:cNvPr id="3" name="Content Placeholder 2">
            <a:extLst>
              <a:ext uri="{FF2B5EF4-FFF2-40B4-BE49-F238E27FC236}">
                <a16:creationId xmlns:a16="http://schemas.microsoft.com/office/drawing/2014/main" id="{274AE319-94E0-1C36-E716-BA1C91CB4B10}"/>
              </a:ext>
            </a:extLst>
          </p:cNvPr>
          <p:cNvSpPr>
            <a:spLocks noGrp="1"/>
          </p:cNvSpPr>
          <p:nvPr>
            <p:ph idx="1"/>
          </p:nvPr>
        </p:nvSpPr>
        <p:spPr>
          <a:xfrm>
            <a:off x="239843" y="1049312"/>
            <a:ext cx="11113957" cy="5621312"/>
          </a:xfrm>
        </p:spPr>
        <p:txBody>
          <a:bodyPr>
            <a:normAutofit/>
          </a:bodyPr>
          <a:lstStyle/>
          <a:p>
            <a:r>
              <a:rPr lang="en-US" sz="2200" dirty="0">
                <a:solidFill>
                  <a:schemeClr val="bg2"/>
                </a:solidFill>
                <a:latin typeface="Times New Roman" panose="02020603050405020304" pitchFamily="18" charset="0"/>
                <a:cs typeface="Times New Roman" panose="02020603050405020304" pitchFamily="18" charset="0"/>
              </a:rPr>
              <a:t>The existing system refers to the current system, process, or technology being used in an organization or context. It's the present setup, which may have its limitations, inefficiencies, or drawbacks.</a:t>
            </a:r>
          </a:p>
          <a:p>
            <a:pPr>
              <a:buNone/>
            </a:pPr>
            <a:r>
              <a:rPr lang="en-US" sz="2000" b="1" dirty="0">
                <a:solidFill>
                  <a:schemeClr val="bg2"/>
                </a:solidFill>
                <a:latin typeface="Times New Roman" panose="02020603050405020304" pitchFamily="18" charset="0"/>
                <a:cs typeface="Times New Roman" panose="02020603050405020304" pitchFamily="18" charset="0"/>
              </a:rPr>
              <a:t>1. </a:t>
            </a:r>
            <a:r>
              <a:rPr lang="en-US" sz="2000" b="1" u="sng" dirty="0">
                <a:solidFill>
                  <a:schemeClr val="bg2"/>
                </a:solidFill>
                <a:latin typeface="Times New Roman" panose="02020603050405020304" pitchFamily="18" charset="0"/>
                <a:cs typeface="Times New Roman" panose="02020603050405020304" pitchFamily="18" charset="0"/>
              </a:rPr>
              <a:t>Dish-Level Classification Models </a:t>
            </a:r>
            <a:r>
              <a:rPr lang="en-US" sz="2000" b="1" dirty="0">
                <a:solidFill>
                  <a:schemeClr val="bg2"/>
                </a:solidFill>
                <a:latin typeface="Times New Roman" panose="02020603050405020304" pitchFamily="18" charset="0"/>
                <a:cs typeface="Times New Roman" panose="02020603050405020304" pitchFamily="18" charset="0"/>
              </a:rPr>
              <a:t>:</a:t>
            </a:r>
            <a:endParaRPr lang="en-US" sz="2000" b="1" u="sng" dirty="0">
              <a:solidFill>
                <a:schemeClr val="bg2"/>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Traditional systems like those trained on </a:t>
            </a:r>
            <a:r>
              <a:rPr lang="en-US" sz="2000" b="1" dirty="0">
                <a:solidFill>
                  <a:schemeClr val="bg2"/>
                </a:solidFill>
                <a:latin typeface="Times New Roman" panose="02020603050405020304" pitchFamily="18" charset="0"/>
                <a:cs typeface="Times New Roman" panose="02020603050405020304" pitchFamily="18" charset="0"/>
              </a:rPr>
              <a:t>Food-101</a:t>
            </a:r>
            <a:r>
              <a:rPr lang="en-US" sz="2000" dirty="0">
                <a:solidFill>
                  <a:schemeClr val="bg2"/>
                </a:solidFill>
                <a:latin typeface="Times New Roman" panose="02020603050405020304" pitchFamily="18" charset="0"/>
                <a:cs typeface="Times New Roman" panose="02020603050405020304" pitchFamily="18" charset="0"/>
              </a:rPr>
              <a:t> or </a:t>
            </a:r>
            <a:r>
              <a:rPr lang="en-US" sz="2000" b="1" dirty="0">
                <a:solidFill>
                  <a:schemeClr val="bg2"/>
                </a:solidFill>
                <a:latin typeface="Times New Roman" panose="02020603050405020304" pitchFamily="18" charset="0"/>
                <a:cs typeface="Times New Roman" panose="02020603050405020304" pitchFamily="18" charset="0"/>
              </a:rPr>
              <a:t>UEC-Food100</a:t>
            </a:r>
            <a:r>
              <a:rPr lang="en-US" sz="2000" dirty="0">
                <a:solidFill>
                  <a:schemeClr val="bg2"/>
                </a:solidFill>
                <a:latin typeface="Times New Roman" panose="02020603050405020304" pitchFamily="18" charset="0"/>
                <a:cs typeface="Times New Roman" panose="02020603050405020304" pitchFamily="18" charset="0"/>
              </a:rPr>
              <a:t> datasets focus on </a:t>
            </a:r>
            <a:r>
              <a:rPr lang="en-US" sz="2000" b="1" dirty="0">
                <a:solidFill>
                  <a:schemeClr val="bg2"/>
                </a:solidFill>
                <a:latin typeface="Times New Roman" panose="02020603050405020304" pitchFamily="18" charset="0"/>
                <a:cs typeface="Times New Roman" panose="02020603050405020304" pitchFamily="18" charset="0"/>
              </a:rPr>
              <a:t>dish recognition</a:t>
            </a:r>
            <a:r>
              <a:rPr lang="en-US" sz="2000" dirty="0">
                <a:solidFill>
                  <a:schemeClr val="bg2"/>
                </a:solidFill>
                <a:latin typeface="Times New Roman" panose="02020603050405020304" pitchFamily="18" charset="0"/>
                <a:cs typeface="Times New Roman" panose="02020603050405020304" pitchFamily="18" charset="0"/>
              </a:rPr>
              <a:t>, not ingredients.</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Challenge: One class per image (e.g., “Spaghetti Carbonara”) — no breakdown of ingredients.</a:t>
            </a:r>
          </a:p>
          <a:p>
            <a:pPr>
              <a:buNone/>
            </a:pPr>
            <a:r>
              <a:rPr lang="en-US" sz="2000" b="1" dirty="0">
                <a:solidFill>
                  <a:schemeClr val="bg2"/>
                </a:solidFill>
                <a:latin typeface="Times New Roman" panose="02020603050405020304" pitchFamily="18" charset="0"/>
                <a:cs typeface="Times New Roman" panose="02020603050405020304" pitchFamily="18" charset="0"/>
              </a:rPr>
              <a:t>2. </a:t>
            </a:r>
            <a:r>
              <a:rPr lang="en-US" sz="2000" b="1" u="sng" dirty="0">
                <a:solidFill>
                  <a:schemeClr val="bg2"/>
                </a:solidFill>
                <a:latin typeface="Times New Roman" panose="02020603050405020304" pitchFamily="18" charset="0"/>
                <a:cs typeface="Times New Roman" panose="02020603050405020304" pitchFamily="18" charset="0"/>
              </a:rPr>
              <a:t>Recipe-Based Retrieval Systems (e.g., Recipe1M) </a:t>
            </a:r>
            <a:r>
              <a:rPr lang="en-US" sz="20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Systems like </a:t>
            </a:r>
            <a:r>
              <a:rPr lang="en-US" sz="2000" b="1" dirty="0">
                <a:solidFill>
                  <a:schemeClr val="bg2"/>
                </a:solidFill>
                <a:latin typeface="Times New Roman" panose="02020603050405020304" pitchFamily="18" charset="0"/>
                <a:cs typeface="Times New Roman" panose="02020603050405020304" pitchFamily="18" charset="0"/>
              </a:rPr>
              <a:t>im2recipe</a:t>
            </a:r>
            <a:r>
              <a:rPr lang="en-US" sz="2000" dirty="0">
                <a:solidFill>
                  <a:schemeClr val="bg2"/>
                </a:solidFill>
                <a:latin typeface="Times New Roman" panose="02020603050405020304" pitchFamily="18" charset="0"/>
                <a:cs typeface="Times New Roman" panose="02020603050405020304" pitchFamily="18" charset="0"/>
              </a:rPr>
              <a:t> use </a:t>
            </a:r>
            <a:r>
              <a:rPr lang="en-US" sz="2000" b="1" dirty="0">
                <a:solidFill>
                  <a:schemeClr val="bg2"/>
                </a:solidFill>
                <a:latin typeface="Times New Roman" panose="02020603050405020304" pitchFamily="18" charset="0"/>
                <a:cs typeface="Times New Roman" panose="02020603050405020304" pitchFamily="18" charset="0"/>
              </a:rPr>
              <a:t>multi-modal learning</a:t>
            </a:r>
            <a:r>
              <a:rPr lang="en-US" sz="2000" dirty="0">
                <a:solidFill>
                  <a:schemeClr val="bg2"/>
                </a:solidFill>
                <a:latin typeface="Times New Roman" panose="02020603050405020304" pitchFamily="18" charset="0"/>
                <a:cs typeface="Times New Roman" panose="02020603050405020304" pitchFamily="18" charset="0"/>
              </a:rPr>
              <a:t> (image + recipe text) to retrieve similar recipes.</a:t>
            </a:r>
          </a:p>
          <a:p>
            <a:pPr>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Limitation</a:t>
            </a:r>
            <a:r>
              <a:rPr lang="en-US" sz="2000" dirty="0">
                <a:solidFill>
                  <a:schemeClr val="bg2"/>
                </a:solidFill>
                <a:latin typeface="Times New Roman" panose="02020603050405020304" pitchFamily="18" charset="0"/>
                <a:cs typeface="Times New Roman" panose="02020603050405020304" pitchFamily="18" charset="0"/>
              </a:rPr>
              <a:t>: Doesn't explicitly identify ingredients; instead, it retrieves a recipe that likely contains similar ingredients.</a:t>
            </a:r>
          </a:p>
          <a:p>
            <a:pPr>
              <a:buNone/>
            </a:pPr>
            <a:r>
              <a:rPr lang="en-US" sz="2000" b="1" dirty="0">
                <a:solidFill>
                  <a:schemeClr val="bg2"/>
                </a:solidFill>
                <a:latin typeface="Times New Roman" panose="02020603050405020304" pitchFamily="18" charset="0"/>
                <a:cs typeface="Times New Roman" panose="02020603050405020304" pitchFamily="18" charset="0"/>
              </a:rPr>
              <a:t>3. </a:t>
            </a:r>
            <a:r>
              <a:rPr lang="en-US" sz="2000" b="1" u="sng" dirty="0">
                <a:solidFill>
                  <a:schemeClr val="bg2"/>
                </a:solidFill>
                <a:latin typeface="Times New Roman" panose="02020603050405020304" pitchFamily="18" charset="0"/>
                <a:cs typeface="Times New Roman" panose="02020603050405020304" pitchFamily="18" charset="0"/>
              </a:rPr>
              <a:t>Weakly-Supervised Ingredient Tagging </a:t>
            </a:r>
            <a:r>
              <a:rPr lang="en-US" sz="20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a:solidFill>
                  <a:schemeClr val="bg2"/>
                </a:solidFill>
                <a:latin typeface="Times New Roman" panose="02020603050405020304" pitchFamily="18" charset="0"/>
                <a:cs typeface="Times New Roman" panose="02020603050405020304" pitchFamily="18" charset="0"/>
              </a:rPr>
              <a:t>Some models are trained to predict ingredients using image-level labels without bounding boxes or masks.</a:t>
            </a:r>
          </a:p>
          <a:p>
            <a:pPr>
              <a:buFont typeface="Arial" panose="020B0604020202020204" pitchFamily="34" charset="0"/>
              <a:buChar char="•"/>
            </a:pPr>
            <a:r>
              <a:rPr lang="en-US" sz="2000" b="1" dirty="0">
                <a:solidFill>
                  <a:schemeClr val="bg2"/>
                </a:solidFill>
                <a:latin typeface="Times New Roman" panose="02020603050405020304" pitchFamily="18" charset="0"/>
                <a:cs typeface="Times New Roman" panose="02020603050405020304" pitchFamily="18" charset="0"/>
              </a:rPr>
              <a:t>Challenge</a:t>
            </a:r>
            <a:r>
              <a:rPr lang="en-US" sz="2000" dirty="0">
                <a:solidFill>
                  <a:schemeClr val="bg2"/>
                </a:solidFill>
                <a:latin typeface="Times New Roman" panose="02020603050405020304" pitchFamily="18" charset="0"/>
                <a:cs typeface="Times New Roman" panose="02020603050405020304" pitchFamily="18" charset="0"/>
              </a:rPr>
              <a:t>: Ingredient co-occurrence biases, and poor handling of </a:t>
            </a:r>
            <a:r>
              <a:rPr lang="en-US" sz="2000" b="1" dirty="0">
                <a:solidFill>
                  <a:schemeClr val="bg2"/>
                </a:solidFill>
                <a:latin typeface="Times New Roman" panose="02020603050405020304" pitchFamily="18" charset="0"/>
                <a:cs typeface="Times New Roman" panose="02020603050405020304" pitchFamily="18" charset="0"/>
              </a:rPr>
              <a:t>visually hidden</a:t>
            </a:r>
            <a:r>
              <a:rPr lang="en-US" sz="2000" dirty="0">
                <a:solidFill>
                  <a:schemeClr val="bg2"/>
                </a:solidFill>
                <a:latin typeface="Times New Roman" panose="02020603050405020304" pitchFamily="18" charset="0"/>
                <a:cs typeface="Times New Roman" panose="02020603050405020304" pitchFamily="18" charset="0"/>
              </a:rPr>
              <a:t> ingredients.</a:t>
            </a:r>
          </a:p>
          <a:p>
            <a:pPr marL="0" indent="0">
              <a:buNone/>
            </a:pPr>
            <a:endParaRPr lang="en-IN" sz="2000" dirty="0">
              <a:solidFill>
                <a:schemeClr val="bg2"/>
              </a:solidFill>
            </a:endParaRPr>
          </a:p>
        </p:txBody>
      </p:sp>
    </p:spTree>
    <p:extLst>
      <p:ext uri="{BB962C8B-B14F-4D97-AF65-F5344CB8AC3E}">
        <p14:creationId xmlns:p14="http://schemas.microsoft.com/office/powerpoint/2010/main" val="59559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Content Placeholder 4" descr="Foodvisor raises €4m for its food image recognition app - DigitalFoodLab">
            <a:extLst>
              <a:ext uri="{FF2B5EF4-FFF2-40B4-BE49-F238E27FC236}">
                <a16:creationId xmlns:a16="http://schemas.microsoft.com/office/drawing/2014/main" id="{F7FD7EBF-A110-4FE8-FF91-3C7381636DFE}"/>
              </a:ext>
            </a:extLst>
          </p:cNvPr>
          <p:cNvPicPr>
            <a:picLocks noGrp="1" noChangeAspect="1"/>
          </p:cNvPicPr>
          <p:nvPr>
            <p:ph sz="half" idx="1"/>
          </p:nvPr>
        </p:nvPicPr>
        <p:blipFill>
          <a:blip r:embed="rId2">
            <a:alphaModFix amt="18000"/>
          </a:blip>
          <a:srcRect t="5011" b="4989"/>
          <a:stretch/>
        </p:blipFill>
        <p:spPr>
          <a:xfrm>
            <a:off x="-1" y="10"/>
            <a:ext cx="12192001" cy="6857990"/>
          </a:xfrm>
          <a:prstGeom prst="rect">
            <a:avLst/>
          </a:prstGeom>
        </p:spPr>
      </p:pic>
      <p:sp>
        <p:nvSpPr>
          <p:cNvPr id="4" name="Content Placeholder 3">
            <a:extLst>
              <a:ext uri="{FF2B5EF4-FFF2-40B4-BE49-F238E27FC236}">
                <a16:creationId xmlns:a16="http://schemas.microsoft.com/office/drawing/2014/main" id="{84F1C6E3-727E-52AA-25C1-E4FCD2ACC793}"/>
              </a:ext>
            </a:extLst>
          </p:cNvPr>
          <p:cNvSpPr>
            <a:spLocks noGrp="1"/>
          </p:cNvSpPr>
          <p:nvPr>
            <p:ph sz="half" idx="2"/>
          </p:nvPr>
        </p:nvSpPr>
        <p:spPr>
          <a:xfrm>
            <a:off x="364761" y="1690688"/>
            <a:ext cx="11336551" cy="4750344"/>
          </a:xfrm>
        </p:spPr>
        <p:txBody>
          <a:bodyPr vert="horz" lIns="91440" tIns="45720" rIns="91440" bIns="45720" rtlCol="0" anchor="t">
            <a:noAutofit/>
          </a:bodyPr>
          <a:lstStyle/>
          <a:p>
            <a:pPr marL="0" indent="0">
              <a:buNone/>
            </a:pPr>
            <a:endParaRPr lang="en-US" sz="2000" dirty="0">
              <a:solidFill>
                <a:srgbClr val="FFFFFF"/>
              </a:solidFill>
            </a:endParaRPr>
          </a:p>
          <a:p>
            <a:endParaRPr lang="en-US" sz="2000" dirty="0">
              <a:solidFill>
                <a:srgbClr val="FFFFFF"/>
              </a:solidFill>
            </a:endParaRPr>
          </a:p>
          <a:p>
            <a:pPr marL="0"/>
            <a:endParaRPr lang="en-US" sz="1300" dirty="0">
              <a:solidFill>
                <a:srgbClr val="FFFFFF"/>
              </a:solidFill>
            </a:endParaRPr>
          </a:p>
          <a:p>
            <a:pPr marL="0"/>
            <a:endParaRPr lang="en-US" sz="1300" dirty="0">
              <a:solidFill>
                <a:srgbClr val="FFFFFF"/>
              </a:solidFill>
            </a:endParaRPr>
          </a:p>
        </p:txBody>
      </p:sp>
      <p:sp>
        <p:nvSpPr>
          <p:cNvPr id="6" name="Title 5">
            <a:extLst>
              <a:ext uri="{FF2B5EF4-FFF2-40B4-BE49-F238E27FC236}">
                <a16:creationId xmlns:a16="http://schemas.microsoft.com/office/drawing/2014/main" id="{DD7D0DC3-CDBE-13E2-F4A1-FBEAE3517BD3}"/>
              </a:ext>
            </a:extLst>
          </p:cNvPr>
          <p:cNvSpPr>
            <a:spLocks noGrp="1"/>
          </p:cNvSpPr>
          <p:nvPr>
            <p:ph type="title"/>
          </p:nvPr>
        </p:nvSpPr>
        <p:spPr>
          <a:xfrm>
            <a:off x="490689" y="365125"/>
            <a:ext cx="11336550" cy="1325563"/>
          </a:xfrm>
        </p:spPr>
        <p:txBody>
          <a:bodyPr>
            <a:normAutofit/>
          </a:bodyPr>
          <a:lstStyle/>
          <a:p>
            <a:r>
              <a:rPr lang="en-US" sz="4400" dirty="0">
                <a:solidFill>
                  <a:schemeClr val="bg1"/>
                </a:solidFill>
                <a:latin typeface="Times New Roman" panose="02020603050405020304" pitchFamily="18" charset="0"/>
                <a:cs typeface="Times New Roman" panose="02020603050405020304" pitchFamily="18" charset="0"/>
              </a:rPr>
              <a:t>DISADVANTAGES OF EXISTING SYSTEM</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5935FB3-3B58-0437-CC3A-AA11DBFA2B6C}"/>
              </a:ext>
            </a:extLst>
          </p:cNvPr>
          <p:cNvSpPr txBox="1"/>
          <p:nvPr/>
        </p:nvSpPr>
        <p:spPr>
          <a:xfrm>
            <a:off x="194154" y="2156565"/>
            <a:ext cx="1151141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400" dirty="0">
                <a:solidFill>
                  <a:srgbClr val="FFFFFF"/>
                </a:solidFill>
                <a:latin typeface="Times New Roman" panose="02020603050405020304" pitchFamily="18" charset="0"/>
                <a:cs typeface="Times New Roman" panose="02020603050405020304" pitchFamily="18" charset="0"/>
              </a:rPr>
              <a:t>Many people struggle to identify food ingredients due to dietary restrictions, allergies, or a lack of knowledge.</a:t>
            </a:r>
            <a:r>
              <a:rPr lang="en-US" sz="2400" dirty="0">
                <a:latin typeface="Times New Roman" panose="02020603050405020304" pitchFamily="18" charset="0"/>
                <a:cs typeface="Times New Roman" panose="02020603050405020304" pitchFamily="18" charset="0"/>
              </a:rPr>
              <a:t>​</a:t>
            </a:r>
          </a:p>
          <a:p>
            <a:pPr marL="228600" indent="-228600">
              <a:buFont typeface=""/>
              <a:buChar char="•"/>
            </a:pPr>
            <a:r>
              <a:rPr lang="en-US" sz="2400" b="1" dirty="0">
                <a:solidFill>
                  <a:srgbClr val="FFFFFF"/>
                </a:solidFill>
                <a:latin typeface="Times New Roman" panose="02020603050405020304" pitchFamily="18" charset="0"/>
                <a:cs typeface="Times New Roman" panose="02020603050405020304" pitchFamily="18" charset="0"/>
              </a:rPr>
              <a:t>Language Barriers</a:t>
            </a:r>
            <a:r>
              <a:rPr lang="en-US" sz="2400" dirty="0">
                <a:solidFill>
                  <a:srgbClr val="FFFFFF"/>
                </a:solidFill>
                <a:latin typeface="Times New Roman" panose="02020603050405020304" pitchFamily="18" charset="0"/>
                <a:cs typeface="Times New Roman" panose="02020603050405020304" pitchFamily="18" charset="0"/>
              </a:rPr>
              <a:t> – Travelers or immigrants may struggle to understand ingredient lists in a foreign language, increasing the risk of consuming something they want to avoid.</a:t>
            </a:r>
            <a:r>
              <a:rPr lang="en-US" sz="2400" dirty="0">
                <a:latin typeface="Times New Roman" panose="02020603050405020304" pitchFamily="18" charset="0"/>
                <a:cs typeface="Times New Roman" panose="02020603050405020304" pitchFamily="18" charset="0"/>
              </a:rPr>
              <a:t>​</a:t>
            </a:r>
          </a:p>
          <a:p>
            <a:pPr marL="228600" indent="-228600">
              <a:buFont typeface=""/>
              <a:buChar char="•"/>
            </a:pPr>
            <a:r>
              <a:rPr lang="en-US" sz="2400" b="1" dirty="0">
                <a:solidFill>
                  <a:srgbClr val="FFFFFF"/>
                </a:solidFill>
                <a:latin typeface="Times New Roman" panose="02020603050405020304" pitchFamily="18" charset="0"/>
                <a:cs typeface="Times New Roman" panose="02020603050405020304" pitchFamily="18" charset="0"/>
              </a:rPr>
              <a:t>Health &amp; Fitness Consciousness</a:t>
            </a:r>
            <a:r>
              <a:rPr lang="en-US" sz="2400" dirty="0">
                <a:solidFill>
                  <a:srgbClr val="FFFFFF"/>
                </a:solidFill>
                <a:latin typeface="Times New Roman" panose="02020603050405020304" pitchFamily="18" charset="0"/>
                <a:cs typeface="Times New Roman" panose="02020603050405020304" pitchFamily="18" charset="0"/>
              </a:rPr>
              <a:t> – People following specific diets (e.g., keto, low-carb, sugar-free) need clear information to track their intake properly.</a:t>
            </a:r>
            <a:r>
              <a:rPr lang="en-US" sz="2400" dirty="0">
                <a:latin typeface="Times New Roman" panose="02020603050405020304" pitchFamily="18" charset="0"/>
                <a:cs typeface="Times New Roman" panose="02020603050405020304" pitchFamily="18" charset="0"/>
              </a:rPr>
              <a:t>​</a:t>
            </a:r>
          </a:p>
          <a:p>
            <a:pPr marL="228600" indent="-228600">
              <a:buFont typeface=""/>
              <a:buChar char="•"/>
            </a:pPr>
            <a:r>
              <a:rPr lang="en-US" sz="2400" dirty="0">
                <a:solidFill>
                  <a:srgbClr val="FFFFFF"/>
                </a:solidFill>
                <a:latin typeface="Times New Roman" panose="02020603050405020304" pitchFamily="18" charset="0"/>
                <a:cs typeface="Times New Roman" panose="02020603050405020304" pitchFamily="18" charset="0"/>
              </a:rPr>
              <a:t>Health-conscious individuals, people with food allergies, nutritionists and restaurants.</a:t>
            </a:r>
            <a:r>
              <a:rPr lang="en-US" sz="2400" dirty="0">
                <a:latin typeface="Times New Roman" panose="02020603050405020304" pitchFamily="18" charset="0"/>
                <a:cs typeface="Times New Roman" panose="02020603050405020304" pitchFamily="18" charset="0"/>
              </a:rPr>
              <a:t>​</a:t>
            </a:r>
          </a:p>
          <a:p>
            <a:pPr marL="228600" indent="-228600">
              <a:buFont typeface=""/>
              <a:buChar char="•"/>
            </a:pPr>
            <a:r>
              <a:rPr lang="en-US" sz="2400" dirty="0">
                <a:solidFill>
                  <a:srgbClr val="FFFFFF"/>
                </a:solidFill>
                <a:latin typeface="Times New Roman" panose="02020603050405020304" pitchFamily="18" charset="0"/>
                <a:cs typeface="Times New Roman" panose="02020603050405020304" pitchFamily="18" charset="0"/>
              </a:rPr>
              <a:t>Misidentification of ingredients can lead to allergic reactions, poor diet choices, and inaccurate nutritional tracking.</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83259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9E46E-98B7-3CC2-5518-C1CEC750EE4A}"/>
              </a:ext>
            </a:extLst>
          </p:cNvPr>
          <p:cNvSpPr>
            <a:spLocks noGrp="1"/>
          </p:cNvSpPr>
          <p:nvPr>
            <p:ph type="title"/>
          </p:nvPr>
        </p:nvSpPr>
        <p:spPr>
          <a:xfrm>
            <a:off x="404734" y="335145"/>
            <a:ext cx="10949066" cy="939019"/>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PROPOSED SYSTEM :</a:t>
            </a:r>
            <a:endParaRPr lang="en-IN" sz="4800" b="1" dirty="0">
              <a:solidFill>
                <a:schemeClr val="bg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21D06F-2C01-F0FA-D70C-ED06137F7787}"/>
              </a:ext>
            </a:extLst>
          </p:cNvPr>
          <p:cNvSpPr>
            <a:spLocks noGrp="1"/>
          </p:cNvSpPr>
          <p:nvPr>
            <p:ph idx="1"/>
          </p:nvPr>
        </p:nvSpPr>
        <p:spPr>
          <a:xfrm>
            <a:off x="404734" y="1274162"/>
            <a:ext cx="10949066" cy="5248693"/>
          </a:xfrm>
        </p:spPr>
        <p:txBody>
          <a:bodyPr>
            <a:normAutofit fontScale="70000" lnSpcReduction="20000"/>
          </a:bodyPr>
          <a:lstStyle/>
          <a:p>
            <a:r>
              <a:rPr lang="en-US" sz="3100" dirty="0">
                <a:solidFill>
                  <a:schemeClr val="bg2"/>
                </a:solidFill>
                <a:latin typeface="Times New Roman" panose="02020603050405020304" pitchFamily="18" charset="0"/>
                <a:cs typeface="Times New Roman" panose="02020603050405020304" pitchFamily="18" charset="0"/>
              </a:rPr>
              <a:t>The proposed system, on the other hand, is a new or improved system, process, or technology that is being suggested or recommended to replace or enhance the existing system. The proposed system aims to address the limitations and inefficiencies of the existing system, offering improvements, benefits, or advantages.</a:t>
            </a:r>
          </a:p>
          <a:p>
            <a:pPr>
              <a:buNone/>
            </a:pPr>
            <a:r>
              <a:rPr lang="en-IN" sz="2900" b="1" dirty="0">
                <a:solidFill>
                  <a:schemeClr val="bg2"/>
                </a:solidFill>
                <a:latin typeface="Times New Roman" panose="02020603050405020304" pitchFamily="18" charset="0"/>
                <a:cs typeface="Times New Roman" panose="02020603050405020304" pitchFamily="18" charset="0"/>
              </a:rPr>
              <a:t>1. </a:t>
            </a:r>
            <a:r>
              <a:rPr lang="en-IN" sz="2900" b="1" u="sng" dirty="0">
                <a:solidFill>
                  <a:schemeClr val="bg2"/>
                </a:solidFill>
                <a:latin typeface="Times New Roman" panose="02020603050405020304" pitchFamily="18" charset="0"/>
                <a:cs typeface="Times New Roman" panose="02020603050405020304" pitchFamily="18" charset="0"/>
              </a:rPr>
              <a:t>Multi-Label Ingredient Classification </a:t>
            </a:r>
            <a:r>
              <a:rPr lang="en-IN" sz="29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900" dirty="0">
                <a:solidFill>
                  <a:schemeClr val="bg2"/>
                </a:solidFill>
                <a:latin typeface="Times New Roman" panose="02020603050405020304" pitchFamily="18" charset="0"/>
                <a:cs typeface="Times New Roman" panose="02020603050405020304" pitchFamily="18" charset="0"/>
              </a:rPr>
              <a:t>Use </a:t>
            </a:r>
            <a:r>
              <a:rPr lang="en-IN" sz="2900" b="1" dirty="0">
                <a:solidFill>
                  <a:schemeClr val="bg2"/>
                </a:solidFill>
                <a:latin typeface="Times New Roman" panose="02020603050405020304" pitchFamily="18" charset="0"/>
                <a:cs typeface="Times New Roman" panose="02020603050405020304" pitchFamily="18" charset="0"/>
              </a:rPr>
              <a:t>modern CNN or transformer-based architectures</a:t>
            </a:r>
            <a:r>
              <a:rPr lang="en-IN" sz="2900" dirty="0">
                <a:solidFill>
                  <a:schemeClr val="bg2"/>
                </a:solidFill>
                <a:latin typeface="Times New Roman" panose="02020603050405020304" pitchFamily="18" charset="0"/>
                <a:cs typeface="Times New Roman" panose="02020603050405020304" pitchFamily="18" charset="0"/>
              </a:rPr>
              <a:t> (like </a:t>
            </a:r>
            <a:r>
              <a:rPr lang="en-IN" sz="2900" dirty="0" err="1">
                <a:solidFill>
                  <a:schemeClr val="bg2"/>
                </a:solidFill>
                <a:latin typeface="Times New Roman" panose="02020603050405020304" pitchFamily="18" charset="0"/>
                <a:cs typeface="Times New Roman" panose="02020603050405020304" pitchFamily="18" charset="0"/>
              </a:rPr>
              <a:t>EfficientNet</a:t>
            </a:r>
            <a:r>
              <a:rPr lang="en-IN" sz="2900" dirty="0">
                <a:solidFill>
                  <a:schemeClr val="bg2"/>
                </a:solidFill>
                <a:latin typeface="Times New Roman" panose="02020603050405020304" pitchFamily="18" charset="0"/>
                <a:cs typeface="Times New Roman" panose="02020603050405020304" pitchFamily="18" charset="0"/>
              </a:rPr>
              <a:t>, </a:t>
            </a:r>
            <a:r>
              <a:rPr lang="en-IN" sz="2900" dirty="0" err="1">
                <a:solidFill>
                  <a:schemeClr val="bg2"/>
                </a:solidFill>
                <a:latin typeface="Times New Roman" panose="02020603050405020304" pitchFamily="18" charset="0"/>
                <a:cs typeface="Times New Roman" panose="02020603050405020304" pitchFamily="18" charset="0"/>
              </a:rPr>
              <a:t>ViT</a:t>
            </a:r>
            <a:r>
              <a:rPr lang="en-IN" sz="2900" dirty="0">
                <a:solidFill>
                  <a:schemeClr val="bg2"/>
                </a:solidFill>
                <a:latin typeface="Times New Roman" panose="02020603050405020304" pitchFamily="18" charset="0"/>
                <a:cs typeface="Times New Roman" panose="02020603050405020304" pitchFamily="18" charset="0"/>
              </a:rPr>
              <a:t>, or Swin Transformer).</a:t>
            </a:r>
          </a:p>
          <a:p>
            <a:pPr>
              <a:buFont typeface="Arial" panose="020B0604020202020204" pitchFamily="34" charset="0"/>
              <a:buChar char="•"/>
            </a:pPr>
            <a:r>
              <a:rPr lang="en-IN" sz="2900" dirty="0">
                <a:solidFill>
                  <a:schemeClr val="bg2"/>
                </a:solidFill>
                <a:latin typeface="Times New Roman" panose="02020603050405020304" pitchFamily="18" charset="0"/>
                <a:cs typeface="Times New Roman" panose="02020603050405020304" pitchFamily="18" charset="0"/>
              </a:rPr>
              <a:t>Final output layer with </a:t>
            </a:r>
            <a:r>
              <a:rPr lang="en-IN" sz="2900" b="1" dirty="0">
                <a:solidFill>
                  <a:schemeClr val="bg2"/>
                </a:solidFill>
                <a:latin typeface="Times New Roman" panose="02020603050405020304" pitchFamily="18" charset="0"/>
                <a:cs typeface="Times New Roman" panose="02020603050405020304" pitchFamily="18" charset="0"/>
              </a:rPr>
              <a:t>sigmoid activation</a:t>
            </a:r>
            <a:r>
              <a:rPr lang="en-IN" sz="2900" dirty="0">
                <a:solidFill>
                  <a:schemeClr val="bg2"/>
                </a:solidFill>
                <a:latin typeface="Times New Roman" panose="02020603050405020304" pitchFamily="18" charset="0"/>
                <a:cs typeface="Times New Roman" panose="02020603050405020304" pitchFamily="18" charset="0"/>
              </a:rPr>
              <a:t> to handle multiple ingredient labels per image.</a:t>
            </a:r>
          </a:p>
          <a:p>
            <a:pPr>
              <a:buNone/>
            </a:pPr>
            <a:r>
              <a:rPr lang="en-IN" sz="2900" b="1" dirty="0">
                <a:solidFill>
                  <a:schemeClr val="bg2"/>
                </a:solidFill>
                <a:latin typeface="Times New Roman" panose="02020603050405020304" pitchFamily="18" charset="0"/>
                <a:cs typeface="Times New Roman" panose="02020603050405020304" pitchFamily="18" charset="0"/>
              </a:rPr>
              <a:t>2. </a:t>
            </a:r>
            <a:r>
              <a:rPr lang="en-IN" sz="2900" b="1" u="sng" dirty="0">
                <a:solidFill>
                  <a:schemeClr val="bg2"/>
                </a:solidFill>
                <a:latin typeface="Times New Roman" panose="02020603050405020304" pitchFamily="18" charset="0"/>
                <a:cs typeface="Times New Roman" panose="02020603050405020304" pitchFamily="18" charset="0"/>
              </a:rPr>
              <a:t>Ingredient Attention Mechanism </a:t>
            </a:r>
            <a:r>
              <a:rPr lang="en-IN" sz="29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900" dirty="0">
                <a:solidFill>
                  <a:schemeClr val="bg2"/>
                </a:solidFill>
                <a:latin typeface="Times New Roman" panose="02020603050405020304" pitchFamily="18" charset="0"/>
                <a:cs typeface="Times New Roman" panose="02020603050405020304" pitchFamily="18" charset="0"/>
              </a:rPr>
              <a:t>Implement an </a:t>
            </a:r>
            <a:r>
              <a:rPr lang="en-IN" sz="2900" b="1" dirty="0">
                <a:solidFill>
                  <a:schemeClr val="bg2"/>
                </a:solidFill>
                <a:latin typeface="Times New Roman" panose="02020603050405020304" pitchFamily="18" charset="0"/>
                <a:cs typeface="Times New Roman" panose="02020603050405020304" pitchFamily="18" charset="0"/>
              </a:rPr>
              <a:t>attention mechanism</a:t>
            </a:r>
            <a:r>
              <a:rPr lang="en-IN" sz="2900" dirty="0">
                <a:solidFill>
                  <a:schemeClr val="bg2"/>
                </a:solidFill>
                <a:latin typeface="Times New Roman" panose="02020603050405020304" pitchFamily="18" charset="0"/>
                <a:cs typeface="Times New Roman" panose="02020603050405020304" pitchFamily="18" charset="0"/>
              </a:rPr>
              <a:t> to focus on regions where ingredients are more likely to be visible.</a:t>
            </a:r>
          </a:p>
          <a:p>
            <a:pPr>
              <a:buFont typeface="Arial" panose="020B0604020202020204" pitchFamily="34" charset="0"/>
              <a:buChar char="•"/>
            </a:pPr>
            <a:r>
              <a:rPr lang="en-IN" sz="2900" dirty="0">
                <a:solidFill>
                  <a:schemeClr val="bg2"/>
                </a:solidFill>
                <a:latin typeface="Times New Roman" panose="02020603050405020304" pitchFamily="18" charset="0"/>
                <a:cs typeface="Times New Roman" panose="02020603050405020304" pitchFamily="18" charset="0"/>
              </a:rPr>
              <a:t>Helps in identifying </a:t>
            </a:r>
            <a:r>
              <a:rPr lang="en-IN" sz="2900" b="1" dirty="0">
                <a:solidFill>
                  <a:schemeClr val="bg2"/>
                </a:solidFill>
                <a:latin typeface="Times New Roman" panose="02020603050405020304" pitchFamily="18" charset="0"/>
                <a:cs typeface="Times New Roman" panose="02020603050405020304" pitchFamily="18" charset="0"/>
              </a:rPr>
              <a:t>partially occluded or small-sized</a:t>
            </a:r>
            <a:r>
              <a:rPr lang="en-IN" sz="2900" dirty="0">
                <a:solidFill>
                  <a:schemeClr val="bg2"/>
                </a:solidFill>
                <a:latin typeface="Times New Roman" panose="02020603050405020304" pitchFamily="18" charset="0"/>
                <a:cs typeface="Times New Roman" panose="02020603050405020304" pitchFamily="18" charset="0"/>
              </a:rPr>
              <a:t> ingredients.</a:t>
            </a:r>
          </a:p>
          <a:p>
            <a:pPr>
              <a:buNone/>
            </a:pPr>
            <a:r>
              <a:rPr lang="en-IN" sz="2900" b="1" dirty="0">
                <a:solidFill>
                  <a:schemeClr val="bg2"/>
                </a:solidFill>
                <a:latin typeface="Times New Roman" panose="02020603050405020304" pitchFamily="18" charset="0"/>
                <a:cs typeface="Times New Roman" panose="02020603050405020304" pitchFamily="18" charset="0"/>
              </a:rPr>
              <a:t>3. </a:t>
            </a:r>
            <a:r>
              <a:rPr lang="en-US" sz="2900" b="1" u="sng" dirty="0">
                <a:solidFill>
                  <a:schemeClr val="bg2"/>
                </a:solidFill>
                <a:latin typeface="Times New Roman" panose="02020603050405020304" pitchFamily="18" charset="0"/>
                <a:cs typeface="Times New Roman" panose="02020603050405020304" pitchFamily="18" charset="0"/>
              </a:rPr>
              <a:t>Real-World Integration </a:t>
            </a:r>
            <a:r>
              <a:rPr lang="en-US" sz="29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900" dirty="0">
                <a:solidFill>
                  <a:schemeClr val="bg2"/>
                </a:solidFill>
                <a:latin typeface="Times New Roman" panose="02020603050405020304" pitchFamily="18" charset="0"/>
                <a:cs typeface="Times New Roman" panose="02020603050405020304" pitchFamily="18" charset="0"/>
              </a:rPr>
              <a:t>Can be integrated into:</a:t>
            </a:r>
          </a:p>
          <a:p>
            <a:pPr marL="742950" lvl="1" indent="-285750">
              <a:buFont typeface="Arial" panose="020B0604020202020204" pitchFamily="34" charset="0"/>
              <a:buChar char="•"/>
            </a:pPr>
            <a:r>
              <a:rPr lang="en-US" sz="2900" b="1" dirty="0">
                <a:solidFill>
                  <a:schemeClr val="bg2"/>
                </a:solidFill>
                <a:latin typeface="Times New Roman" panose="02020603050405020304" pitchFamily="18" charset="0"/>
                <a:cs typeface="Times New Roman" panose="02020603050405020304" pitchFamily="18" charset="0"/>
              </a:rPr>
              <a:t>Fitness and health apps</a:t>
            </a:r>
            <a:endParaRPr lang="en-US" sz="2900" dirty="0">
              <a:solidFill>
                <a:schemeClr val="bg2"/>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900" b="1" dirty="0">
                <a:solidFill>
                  <a:schemeClr val="bg2"/>
                </a:solidFill>
                <a:latin typeface="Times New Roman" panose="02020603050405020304" pitchFamily="18" charset="0"/>
                <a:cs typeface="Times New Roman" panose="02020603050405020304" pitchFamily="18" charset="0"/>
              </a:rPr>
              <a:t>Calorie estimation systems</a:t>
            </a:r>
            <a:endParaRPr lang="en-US" sz="2900" dirty="0">
              <a:solidFill>
                <a:schemeClr val="bg2"/>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900" b="1" dirty="0">
                <a:solidFill>
                  <a:schemeClr val="bg2"/>
                </a:solidFill>
                <a:latin typeface="Times New Roman" panose="02020603050405020304" pitchFamily="18" charset="0"/>
                <a:cs typeface="Times New Roman" panose="02020603050405020304" pitchFamily="18" charset="0"/>
              </a:rPr>
              <a:t>Food delivery apps</a:t>
            </a:r>
            <a:r>
              <a:rPr lang="en-US" sz="2900" dirty="0">
                <a:solidFill>
                  <a:schemeClr val="bg2"/>
                </a:solidFill>
                <a:latin typeface="Times New Roman" panose="02020603050405020304" pitchFamily="18" charset="0"/>
                <a:cs typeface="Times New Roman" panose="02020603050405020304" pitchFamily="18" charset="0"/>
              </a:rPr>
              <a:t> for allergy/diet-based filtering</a:t>
            </a:r>
          </a:p>
          <a:p>
            <a:pPr>
              <a:buNone/>
            </a:pPr>
            <a:endParaRPr lang="en-IN" dirty="0">
              <a:solidFill>
                <a:schemeClr val="bg2"/>
              </a:solidFill>
            </a:endParaRPr>
          </a:p>
          <a:p>
            <a:endParaRPr lang="en-IN" dirty="0">
              <a:solidFill>
                <a:schemeClr val="bg2"/>
              </a:solidFill>
            </a:endParaRPr>
          </a:p>
        </p:txBody>
      </p:sp>
    </p:spTree>
    <p:extLst>
      <p:ext uri="{BB962C8B-B14F-4D97-AF65-F5344CB8AC3E}">
        <p14:creationId xmlns:p14="http://schemas.microsoft.com/office/powerpoint/2010/main" val="626764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D4687A-DCB4-D7D9-10BA-A2F01D105600}"/>
              </a:ext>
            </a:extLst>
          </p:cNvPr>
          <p:cNvPicPr>
            <a:picLocks noChangeAspect="1"/>
          </p:cNvPicPr>
          <p:nvPr/>
        </p:nvPicPr>
        <p:blipFill>
          <a:blip r:embed="rId2">
            <a:alphaModFix amt="20000"/>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D8428916-50C7-F1DE-E514-6263033ADA8E}"/>
              </a:ext>
            </a:extLst>
          </p:cNvPr>
          <p:cNvSpPr>
            <a:spLocks noGrp="1"/>
          </p:cNvSpPr>
          <p:nvPr>
            <p:ph type="title"/>
          </p:nvPr>
        </p:nvSpPr>
        <p:spPr>
          <a:xfrm>
            <a:off x="344774" y="194924"/>
            <a:ext cx="10649262" cy="1325563"/>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TECHNICAL REQUIREMENTS :</a:t>
            </a:r>
            <a:endParaRPr lang="en-IN" sz="4800" b="1" dirty="0">
              <a:solidFill>
                <a:schemeClr val="bg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25C752-1841-3B23-059D-59145E8D771F}"/>
              </a:ext>
            </a:extLst>
          </p:cNvPr>
          <p:cNvSpPr>
            <a:spLocks noGrp="1"/>
          </p:cNvSpPr>
          <p:nvPr>
            <p:ph idx="1"/>
          </p:nvPr>
        </p:nvSpPr>
        <p:spPr>
          <a:xfrm>
            <a:off x="344774" y="1715411"/>
            <a:ext cx="11009026" cy="4790320"/>
          </a:xfrm>
        </p:spPr>
        <p:txBody>
          <a:bodyPr>
            <a:normAutofit fontScale="92500" lnSpcReduction="20000"/>
          </a:bodyPr>
          <a:lstStyle/>
          <a:p>
            <a:pPr marL="0" indent="0">
              <a:buNone/>
            </a:pPr>
            <a:r>
              <a:rPr lang="en-IN" sz="2600" b="1" dirty="0">
                <a:solidFill>
                  <a:schemeClr val="bg2"/>
                </a:solidFill>
                <a:latin typeface="Times New Roman" panose="02020603050405020304" pitchFamily="18" charset="0"/>
                <a:cs typeface="Times New Roman" panose="02020603050405020304" pitchFamily="18" charset="0"/>
              </a:rPr>
              <a:t>1. </a:t>
            </a:r>
            <a:r>
              <a:rPr lang="en-IN" sz="2600" b="1" u="sng" dirty="0">
                <a:solidFill>
                  <a:schemeClr val="bg2"/>
                </a:solidFill>
                <a:latin typeface="Times New Roman" panose="02020603050405020304" pitchFamily="18" charset="0"/>
                <a:cs typeface="Times New Roman" panose="02020603050405020304" pitchFamily="18" charset="0"/>
              </a:rPr>
              <a:t>Hardware Requirements :</a:t>
            </a:r>
          </a:p>
          <a:p>
            <a:pPr>
              <a:buFont typeface="Arial" panose="020B0604020202020204" pitchFamily="34" charset="0"/>
              <a:buChar char="•"/>
            </a:pPr>
            <a:r>
              <a:rPr lang="en-IN" sz="2400" b="1" dirty="0">
                <a:solidFill>
                  <a:schemeClr val="bg2"/>
                </a:solidFill>
                <a:latin typeface="Times New Roman" panose="02020603050405020304" pitchFamily="18" charset="0"/>
                <a:cs typeface="Times New Roman" panose="02020603050405020304" pitchFamily="18" charset="0"/>
              </a:rPr>
              <a:t>Processor</a:t>
            </a:r>
            <a:r>
              <a:rPr lang="en-IN" sz="2400" dirty="0">
                <a:solidFill>
                  <a:schemeClr val="bg2"/>
                </a:solidFill>
                <a:latin typeface="Times New Roman" panose="02020603050405020304" pitchFamily="18" charset="0"/>
                <a:cs typeface="Times New Roman" panose="02020603050405020304" pitchFamily="18" charset="0"/>
              </a:rPr>
              <a:t> : Minimum Intel i5 or equivalent (recommended i7 or higher for training)</a:t>
            </a:r>
          </a:p>
          <a:p>
            <a:pPr>
              <a:buFont typeface="Arial" panose="020B0604020202020204" pitchFamily="34" charset="0"/>
              <a:buChar char="•"/>
            </a:pPr>
            <a:r>
              <a:rPr lang="en-IN" sz="2400" b="1" dirty="0">
                <a:solidFill>
                  <a:schemeClr val="bg2"/>
                </a:solidFill>
                <a:latin typeface="Times New Roman" panose="02020603050405020304" pitchFamily="18" charset="0"/>
                <a:cs typeface="Times New Roman" panose="02020603050405020304" pitchFamily="18" charset="0"/>
              </a:rPr>
              <a:t>RAM</a:t>
            </a:r>
            <a:r>
              <a:rPr lang="en-IN" sz="2400" dirty="0">
                <a:solidFill>
                  <a:schemeClr val="bg2"/>
                </a:solidFill>
                <a:latin typeface="Times New Roman" panose="02020603050405020304" pitchFamily="18" charset="0"/>
                <a:cs typeface="Times New Roman" panose="02020603050405020304" pitchFamily="18" charset="0"/>
              </a:rPr>
              <a:t>: At least 8GB (16GB+ recommended)</a:t>
            </a:r>
          </a:p>
          <a:p>
            <a:pPr>
              <a:buFont typeface="Arial" panose="020B0604020202020204" pitchFamily="34" charset="0"/>
              <a:buChar char="•"/>
            </a:pPr>
            <a:r>
              <a:rPr lang="en-IN" sz="2400" b="1" dirty="0">
                <a:solidFill>
                  <a:schemeClr val="bg2"/>
                </a:solidFill>
                <a:latin typeface="Times New Roman" panose="02020603050405020304" pitchFamily="18" charset="0"/>
                <a:cs typeface="Times New Roman" panose="02020603050405020304" pitchFamily="18" charset="0"/>
              </a:rPr>
              <a:t>Storage</a:t>
            </a:r>
            <a:r>
              <a:rPr lang="en-IN" sz="2400" dirty="0">
                <a:solidFill>
                  <a:schemeClr val="bg2"/>
                </a:solidFill>
                <a:latin typeface="Times New Roman" panose="02020603050405020304" pitchFamily="18" charset="0"/>
                <a:cs typeface="Times New Roman" panose="02020603050405020304" pitchFamily="18" charset="0"/>
              </a:rPr>
              <a:t> : Minimum 10GB free space (for model, images, logs)</a:t>
            </a:r>
          </a:p>
          <a:p>
            <a:pPr>
              <a:buFont typeface="Arial" panose="020B0604020202020204" pitchFamily="34" charset="0"/>
              <a:buChar char="•"/>
            </a:pPr>
            <a:r>
              <a:rPr lang="en-IN" sz="2400" b="1" dirty="0">
                <a:solidFill>
                  <a:schemeClr val="bg2"/>
                </a:solidFill>
                <a:latin typeface="Times New Roman" panose="02020603050405020304" pitchFamily="18" charset="0"/>
                <a:cs typeface="Times New Roman" panose="02020603050405020304" pitchFamily="18" charset="0"/>
              </a:rPr>
              <a:t>GPU</a:t>
            </a:r>
            <a:r>
              <a:rPr lang="en-IN" sz="2400" dirty="0">
                <a:solidFill>
                  <a:schemeClr val="bg2"/>
                </a:solidFill>
                <a:latin typeface="Times New Roman" panose="02020603050405020304" pitchFamily="18" charset="0"/>
                <a:cs typeface="Times New Roman" panose="02020603050405020304" pitchFamily="18" charset="0"/>
              </a:rPr>
              <a:t> (optional but recommended): NVIDIA GPU with CUDA support (for training)</a:t>
            </a:r>
          </a:p>
          <a:p>
            <a:pPr marL="0" indent="0">
              <a:buNone/>
            </a:pPr>
            <a:r>
              <a:rPr lang="en-IN" sz="2600" dirty="0">
                <a:solidFill>
                  <a:schemeClr val="bg2"/>
                </a:solidFill>
                <a:latin typeface="Times New Roman" panose="02020603050405020304" pitchFamily="18" charset="0"/>
                <a:cs typeface="Times New Roman" panose="02020603050405020304" pitchFamily="18" charset="0"/>
              </a:rPr>
              <a:t> </a:t>
            </a:r>
          </a:p>
          <a:p>
            <a:pPr marL="0" indent="0">
              <a:buNone/>
            </a:pPr>
            <a:r>
              <a:rPr lang="en-IN" sz="2600" b="1" dirty="0">
                <a:solidFill>
                  <a:schemeClr val="bg2"/>
                </a:solidFill>
                <a:latin typeface="Times New Roman" panose="02020603050405020304" pitchFamily="18" charset="0"/>
                <a:cs typeface="Times New Roman" panose="02020603050405020304" pitchFamily="18" charset="0"/>
              </a:rPr>
              <a:t>2. </a:t>
            </a:r>
            <a:r>
              <a:rPr lang="en-IN" sz="2600" b="1" u="sng" dirty="0">
                <a:solidFill>
                  <a:schemeClr val="bg2"/>
                </a:solidFill>
                <a:latin typeface="Times New Roman" panose="02020603050405020304" pitchFamily="18" charset="0"/>
                <a:cs typeface="Times New Roman" panose="02020603050405020304" pitchFamily="18" charset="0"/>
              </a:rPr>
              <a:t>Software Requirements </a:t>
            </a:r>
            <a:r>
              <a:rPr lang="en-IN" sz="2600" b="1" dirty="0">
                <a:solidFill>
                  <a:schemeClr val="bg2"/>
                </a:solidFill>
                <a:latin typeface="Times New Roman" panose="02020603050405020304" pitchFamily="18" charset="0"/>
                <a:cs typeface="Times New Roman" panose="02020603050405020304" pitchFamily="18" charset="0"/>
              </a:rPr>
              <a:t>:</a:t>
            </a:r>
          </a:p>
          <a:p>
            <a:pPr marL="0" indent="0">
              <a:buNone/>
            </a:pPr>
            <a:r>
              <a:rPr lang="en-IN" sz="2400" dirty="0">
                <a:solidFill>
                  <a:schemeClr val="bg2"/>
                </a:solidFill>
                <a:latin typeface="Times New Roman" panose="02020603050405020304" pitchFamily="18" charset="0"/>
                <a:cs typeface="Times New Roman" panose="02020603050405020304" pitchFamily="18" charset="0"/>
              </a:rPr>
              <a:t>  ➤ Backend &amp; Frameworks</a:t>
            </a:r>
          </a:p>
          <a:p>
            <a:pPr>
              <a:buFont typeface="Arial" panose="020B0604020202020204" pitchFamily="34" charset="0"/>
              <a:buChar char="•"/>
            </a:pPr>
            <a:r>
              <a:rPr lang="en-IN" sz="2400" dirty="0">
                <a:solidFill>
                  <a:schemeClr val="bg2"/>
                </a:solidFill>
                <a:latin typeface="Times New Roman" panose="02020603050405020304" pitchFamily="18" charset="0"/>
                <a:cs typeface="Times New Roman" panose="02020603050405020304" pitchFamily="18" charset="0"/>
              </a:rPr>
              <a:t>Python 3.7+</a:t>
            </a:r>
          </a:p>
          <a:p>
            <a:pPr>
              <a:buFont typeface="Arial" panose="020B0604020202020204" pitchFamily="34" charset="0"/>
              <a:buChar char="•"/>
            </a:pPr>
            <a:r>
              <a:rPr lang="en-IN" sz="2400" b="1" dirty="0">
                <a:solidFill>
                  <a:schemeClr val="bg2"/>
                </a:solidFill>
                <a:latin typeface="Times New Roman" panose="02020603050405020304" pitchFamily="18" charset="0"/>
                <a:cs typeface="Times New Roman" panose="02020603050405020304" pitchFamily="18" charset="0"/>
              </a:rPr>
              <a:t>Flask </a:t>
            </a:r>
            <a:r>
              <a:rPr lang="en-IN" sz="2400" dirty="0">
                <a:solidFill>
                  <a:schemeClr val="bg2"/>
                </a:solidFill>
                <a:latin typeface="Times New Roman" panose="02020603050405020304" pitchFamily="18" charset="0"/>
                <a:cs typeface="Times New Roman" panose="02020603050405020304" pitchFamily="18" charset="0"/>
              </a:rPr>
              <a:t>– for web server and routing</a:t>
            </a:r>
          </a:p>
          <a:p>
            <a:pPr>
              <a:buFont typeface="Arial" panose="020B0604020202020204" pitchFamily="34" charset="0"/>
              <a:buChar char="•"/>
            </a:pPr>
            <a:r>
              <a:rPr lang="en-IN" sz="2400" b="1" dirty="0" err="1">
                <a:solidFill>
                  <a:schemeClr val="bg2"/>
                </a:solidFill>
                <a:latin typeface="Times New Roman" panose="02020603050405020304" pitchFamily="18" charset="0"/>
                <a:cs typeface="Times New Roman" panose="02020603050405020304" pitchFamily="18" charset="0"/>
              </a:rPr>
              <a:t>Keras</a:t>
            </a:r>
            <a:r>
              <a:rPr lang="en-IN" sz="2400" dirty="0">
                <a:solidFill>
                  <a:schemeClr val="bg2"/>
                </a:solidFill>
                <a:latin typeface="Times New Roman" panose="02020603050405020304" pitchFamily="18" charset="0"/>
                <a:cs typeface="Times New Roman" panose="02020603050405020304" pitchFamily="18" charset="0"/>
              </a:rPr>
              <a:t> / </a:t>
            </a:r>
            <a:r>
              <a:rPr lang="en-IN" sz="2400" b="1" dirty="0">
                <a:solidFill>
                  <a:schemeClr val="bg2"/>
                </a:solidFill>
                <a:latin typeface="Times New Roman" panose="02020603050405020304" pitchFamily="18" charset="0"/>
                <a:cs typeface="Times New Roman" panose="02020603050405020304" pitchFamily="18" charset="0"/>
              </a:rPr>
              <a:t>TensorFlow</a:t>
            </a:r>
            <a:r>
              <a:rPr lang="en-IN" sz="2400" dirty="0">
                <a:solidFill>
                  <a:schemeClr val="bg2"/>
                </a:solidFill>
                <a:latin typeface="Times New Roman" panose="02020603050405020304" pitchFamily="18" charset="0"/>
                <a:cs typeface="Times New Roman" panose="02020603050405020304" pitchFamily="18" charset="0"/>
              </a:rPr>
              <a:t> – for loading and using the VGG16 model</a:t>
            </a:r>
          </a:p>
          <a:p>
            <a:pPr>
              <a:buFont typeface="Arial" panose="020B0604020202020204" pitchFamily="34" charset="0"/>
              <a:buChar char="•"/>
            </a:pPr>
            <a:r>
              <a:rPr lang="en-IN" sz="2400" b="1" dirty="0">
                <a:solidFill>
                  <a:schemeClr val="bg2"/>
                </a:solidFill>
                <a:latin typeface="Times New Roman" panose="02020603050405020304" pitchFamily="18" charset="0"/>
                <a:cs typeface="Times New Roman" panose="02020603050405020304" pitchFamily="18" charset="0"/>
              </a:rPr>
              <a:t>NumPy, Pillow </a:t>
            </a:r>
            <a:r>
              <a:rPr lang="en-IN" sz="2400" dirty="0">
                <a:solidFill>
                  <a:schemeClr val="bg2"/>
                </a:solidFill>
                <a:latin typeface="Times New Roman" panose="02020603050405020304" pitchFamily="18" charset="0"/>
                <a:cs typeface="Times New Roman" panose="02020603050405020304" pitchFamily="18" charset="0"/>
              </a:rPr>
              <a:t>(PIL) – for image processing</a:t>
            </a:r>
          </a:p>
          <a:p>
            <a:pPr>
              <a:buFont typeface="Arial" panose="020B0604020202020204" pitchFamily="34" charset="0"/>
              <a:buChar char="•"/>
            </a:pPr>
            <a:r>
              <a:rPr lang="en-IN" sz="2400" b="1" dirty="0" err="1">
                <a:solidFill>
                  <a:schemeClr val="bg2"/>
                </a:solidFill>
                <a:latin typeface="Times New Roman" panose="02020603050405020304" pitchFamily="18" charset="0"/>
                <a:cs typeface="Times New Roman" panose="02020603050405020304" pitchFamily="18" charset="0"/>
              </a:rPr>
              <a:t>Groq</a:t>
            </a:r>
            <a:r>
              <a:rPr lang="en-IN" sz="2400" b="1" dirty="0">
                <a:solidFill>
                  <a:schemeClr val="bg2"/>
                </a:solidFill>
                <a:latin typeface="Times New Roman" panose="02020603050405020304" pitchFamily="18" charset="0"/>
                <a:cs typeface="Times New Roman" panose="02020603050405020304" pitchFamily="18" charset="0"/>
              </a:rPr>
              <a:t> Python SDK </a:t>
            </a:r>
            <a:r>
              <a:rPr lang="en-IN" sz="2400" dirty="0">
                <a:solidFill>
                  <a:schemeClr val="bg2"/>
                </a:solidFill>
                <a:latin typeface="Times New Roman" panose="02020603050405020304" pitchFamily="18" charset="0"/>
                <a:cs typeface="Times New Roman" panose="02020603050405020304" pitchFamily="18" charset="0"/>
              </a:rPr>
              <a:t>– to connect to the </a:t>
            </a:r>
            <a:r>
              <a:rPr lang="en-IN" sz="2400" dirty="0" err="1">
                <a:solidFill>
                  <a:schemeClr val="bg2"/>
                </a:solidFill>
                <a:latin typeface="Times New Roman" panose="02020603050405020304" pitchFamily="18" charset="0"/>
                <a:cs typeface="Times New Roman" panose="02020603050405020304" pitchFamily="18" charset="0"/>
              </a:rPr>
              <a:t>Groq</a:t>
            </a:r>
            <a:r>
              <a:rPr lang="en-IN" sz="2400" dirty="0">
                <a:solidFill>
                  <a:schemeClr val="bg2"/>
                </a:solidFill>
                <a:latin typeface="Times New Roman" panose="02020603050405020304" pitchFamily="18" charset="0"/>
                <a:cs typeface="Times New Roman" panose="02020603050405020304" pitchFamily="18" charset="0"/>
              </a:rPr>
              <a:t> API</a:t>
            </a:r>
          </a:p>
        </p:txBody>
      </p:sp>
    </p:spTree>
    <p:extLst>
      <p:ext uri="{BB962C8B-B14F-4D97-AF65-F5344CB8AC3E}">
        <p14:creationId xmlns:p14="http://schemas.microsoft.com/office/powerpoint/2010/main" val="2018776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4442B5-690A-F120-ECAB-31BBE5A213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8ADBD90-A1F7-8C7B-3498-A69F4445385B}"/>
              </a:ext>
            </a:extLst>
          </p:cNvPr>
          <p:cNvPicPr>
            <a:picLocks noChangeAspect="1"/>
          </p:cNvPicPr>
          <p:nvPr/>
        </p:nvPicPr>
        <p:blipFill>
          <a:blip r:embed="rId2">
            <a:alphaModFix amt="20000"/>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ED3728F9-F1CB-7D77-6881-B9804C4F88E0}"/>
              </a:ext>
            </a:extLst>
          </p:cNvPr>
          <p:cNvSpPr>
            <a:spLocks noGrp="1"/>
          </p:cNvSpPr>
          <p:nvPr>
            <p:ph type="title"/>
          </p:nvPr>
        </p:nvSpPr>
        <p:spPr>
          <a:xfrm>
            <a:off x="344774" y="194924"/>
            <a:ext cx="10649262" cy="1325563"/>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TECHNICAL REQUIREMENTS :</a:t>
            </a:r>
            <a:endParaRPr lang="en-IN" sz="4800" b="1" dirty="0">
              <a:solidFill>
                <a:schemeClr val="bg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0C50E1-438A-02AC-ED25-F47C234EE926}"/>
              </a:ext>
            </a:extLst>
          </p:cNvPr>
          <p:cNvSpPr>
            <a:spLocks noGrp="1"/>
          </p:cNvSpPr>
          <p:nvPr>
            <p:ph idx="1"/>
          </p:nvPr>
        </p:nvSpPr>
        <p:spPr>
          <a:xfrm>
            <a:off x="344774" y="1715411"/>
            <a:ext cx="11502452" cy="4355606"/>
          </a:xfrm>
        </p:spPr>
        <p:txBody>
          <a:bodyPr>
            <a:normAutofit lnSpcReduction="10000"/>
          </a:bodyPr>
          <a:lstStyle/>
          <a:p>
            <a:pPr marL="0" indent="0">
              <a:buNone/>
            </a:pPr>
            <a:r>
              <a:rPr lang="en-IN" sz="2400" b="1" dirty="0">
                <a:solidFill>
                  <a:schemeClr val="bg2"/>
                </a:solidFill>
                <a:latin typeface="Times New Roman" panose="02020603050405020304" pitchFamily="18" charset="0"/>
                <a:cs typeface="Times New Roman" panose="02020603050405020304" pitchFamily="18" charset="0"/>
              </a:rPr>
              <a:t>3. </a:t>
            </a:r>
            <a:r>
              <a:rPr lang="en-IN" sz="2400" b="1" u="sng" dirty="0">
                <a:solidFill>
                  <a:schemeClr val="bg2"/>
                </a:solidFill>
                <a:latin typeface="Times New Roman" panose="02020603050405020304" pitchFamily="18" charset="0"/>
                <a:cs typeface="Times New Roman" panose="02020603050405020304" pitchFamily="18" charset="0"/>
              </a:rPr>
              <a:t>External Services </a:t>
            </a:r>
            <a:r>
              <a:rPr lang="en-IN" sz="24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400" b="1" dirty="0" err="1">
                <a:solidFill>
                  <a:schemeClr val="bg2"/>
                </a:solidFill>
                <a:latin typeface="Times New Roman" panose="02020603050405020304" pitchFamily="18" charset="0"/>
                <a:cs typeface="Times New Roman" panose="02020603050405020304" pitchFamily="18" charset="0"/>
              </a:rPr>
              <a:t>Groq</a:t>
            </a:r>
            <a:r>
              <a:rPr lang="en-IN" sz="2400" b="1" dirty="0">
                <a:solidFill>
                  <a:schemeClr val="bg2"/>
                </a:solidFill>
                <a:latin typeface="Times New Roman" panose="02020603050405020304" pitchFamily="18" charset="0"/>
                <a:cs typeface="Times New Roman" panose="02020603050405020304" pitchFamily="18" charset="0"/>
              </a:rPr>
              <a:t> API Access :</a:t>
            </a:r>
          </a:p>
          <a:p>
            <a:pPr>
              <a:buFont typeface="Wingdings" panose="05000000000000000000" pitchFamily="2" charset="2"/>
              <a:buChar char="ü"/>
            </a:pPr>
            <a:r>
              <a:rPr lang="en-IN" sz="2400" b="1" dirty="0">
                <a:solidFill>
                  <a:schemeClr val="bg2"/>
                </a:solidFill>
                <a:latin typeface="Times New Roman" panose="02020603050405020304" pitchFamily="18" charset="0"/>
                <a:cs typeface="Times New Roman" panose="02020603050405020304" pitchFamily="18" charset="0"/>
              </a:rPr>
              <a:t> </a:t>
            </a:r>
            <a:r>
              <a:rPr lang="en-IN" sz="2200" dirty="0">
                <a:solidFill>
                  <a:schemeClr val="bg2"/>
                </a:solidFill>
                <a:latin typeface="Times New Roman" panose="02020603050405020304" pitchFamily="18" charset="0"/>
                <a:cs typeface="Times New Roman" panose="02020603050405020304" pitchFamily="18" charset="0"/>
              </a:rPr>
              <a:t>Requires an API key</a:t>
            </a:r>
          </a:p>
          <a:p>
            <a:pPr>
              <a:buFont typeface="Wingdings" panose="05000000000000000000" pitchFamily="2" charset="2"/>
              <a:buChar char="ü"/>
            </a:pPr>
            <a:r>
              <a:rPr lang="en-IN" sz="2200" dirty="0">
                <a:solidFill>
                  <a:schemeClr val="bg2"/>
                </a:solidFill>
                <a:latin typeface="Times New Roman" panose="02020603050405020304" pitchFamily="18" charset="0"/>
                <a:cs typeface="Times New Roman" panose="02020603050405020304" pitchFamily="18" charset="0"/>
              </a:rPr>
              <a:t>Used to fetch ingredients and nutritional info via LLM (e.g., </a:t>
            </a:r>
            <a:r>
              <a:rPr lang="en-IN" sz="2200" dirty="0" err="1">
                <a:solidFill>
                  <a:schemeClr val="bg2"/>
                </a:solidFill>
                <a:latin typeface="Times New Roman" panose="02020603050405020304" pitchFamily="18" charset="0"/>
                <a:cs typeface="Times New Roman" panose="02020603050405020304" pitchFamily="18" charset="0"/>
              </a:rPr>
              <a:t>LLaMA</a:t>
            </a:r>
            <a:r>
              <a:rPr lang="en-IN" sz="2200" dirty="0">
                <a:solidFill>
                  <a:schemeClr val="bg2"/>
                </a:solidFill>
                <a:latin typeface="Times New Roman" panose="02020603050405020304" pitchFamily="18" charset="0"/>
                <a:cs typeface="Times New Roman" panose="02020603050405020304" pitchFamily="18" charset="0"/>
              </a:rPr>
              <a:t> 3)</a:t>
            </a:r>
          </a:p>
          <a:p>
            <a:pPr marL="0" indent="0">
              <a:buNone/>
            </a:pPr>
            <a:endParaRPr lang="en-IN" sz="2400" b="1" u="sng" dirty="0">
              <a:solidFill>
                <a:schemeClr val="bg2"/>
              </a:solidFill>
              <a:latin typeface="Times New Roman" panose="02020603050405020304" pitchFamily="18" charset="0"/>
              <a:cs typeface="Times New Roman" panose="02020603050405020304" pitchFamily="18" charset="0"/>
            </a:endParaRPr>
          </a:p>
          <a:p>
            <a:pPr marL="0" indent="0">
              <a:buNone/>
            </a:pPr>
            <a:r>
              <a:rPr lang="en-IN" sz="2400" b="1" u="sng" dirty="0">
                <a:solidFill>
                  <a:schemeClr val="bg2"/>
                </a:solidFill>
                <a:latin typeface="Times New Roman" panose="02020603050405020304" pitchFamily="18" charset="0"/>
                <a:cs typeface="Times New Roman" panose="02020603050405020304" pitchFamily="18" charset="0"/>
              </a:rPr>
              <a:t>4. Model Requirements </a:t>
            </a:r>
            <a:r>
              <a:rPr lang="en-IN" sz="2400" b="1" dirty="0">
                <a:solidFill>
                  <a:schemeClr val="bg2"/>
                </a:solidFill>
                <a:latin typeface="Times New Roman" panose="02020603050405020304" pitchFamily="18" charset="0"/>
                <a:cs typeface="Times New Roman" panose="02020603050405020304" pitchFamily="18" charset="0"/>
              </a:rPr>
              <a:t>:</a:t>
            </a:r>
          </a:p>
          <a:p>
            <a:r>
              <a:rPr lang="en-IN" sz="2200" b="1" dirty="0">
                <a:solidFill>
                  <a:schemeClr val="bg2"/>
                </a:solidFill>
                <a:latin typeface="Times New Roman" panose="02020603050405020304" pitchFamily="18" charset="0"/>
                <a:cs typeface="Times New Roman" panose="02020603050405020304" pitchFamily="18" charset="0"/>
              </a:rPr>
              <a:t>Pretrained Model : </a:t>
            </a:r>
            <a:r>
              <a:rPr lang="en-IN" sz="2200" dirty="0">
                <a:solidFill>
                  <a:schemeClr val="bg2"/>
                </a:solidFill>
                <a:latin typeface="Times New Roman" panose="02020603050405020304" pitchFamily="18" charset="0"/>
                <a:cs typeface="Times New Roman" panose="02020603050405020304" pitchFamily="18" charset="0"/>
              </a:rPr>
              <a:t> VGG16 trained on the Food-101 dataset</a:t>
            </a:r>
          </a:p>
          <a:p>
            <a:r>
              <a:rPr lang="en-IN" sz="2200" b="1" dirty="0">
                <a:solidFill>
                  <a:schemeClr val="bg2"/>
                </a:solidFill>
                <a:latin typeface="Times New Roman" panose="02020603050405020304" pitchFamily="18" charset="0"/>
                <a:cs typeface="Times New Roman" panose="02020603050405020304" pitchFamily="18" charset="0"/>
              </a:rPr>
              <a:t>Model Files : </a:t>
            </a:r>
            <a:r>
              <a:rPr lang="en-IN" sz="2200" dirty="0">
                <a:solidFill>
                  <a:schemeClr val="bg2"/>
                </a:solidFill>
                <a:latin typeface="Times New Roman" panose="02020603050405020304" pitchFamily="18" charset="0"/>
                <a:cs typeface="Times New Roman" panose="02020603050405020304" pitchFamily="18" charset="0"/>
              </a:rPr>
              <a:t>vgg16_food101_trained.h5 (Or) v8_vgg16_model_1.h5 (used in training phase)</a:t>
            </a:r>
          </a:p>
          <a:p>
            <a:r>
              <a:rPr lang="en-IN" sz="2200" b="1" dirty="0">
                <a:solidFill>
                  <a:schemeClr val="bg2"/>
                </a:solidFill>
                <a:latin typeface="Times New Roman" panose="02020603050405020304" pitchFamily="18" charset="0"/>
                <a:cs typeface="Times New Roman" panose="02020603050405020304" pitchFamily="18" charset="0"/>
              </a:rPr>
              <a:t>Image Size :  </a:t>
            </a:r>
            <a:r>
              <a:rPr lang="en-IN" sz="2200" dirty="0">
                <a:solidFill>
                  <a:schemeClr val="bg2"/>
                </a:solidFill>
                <a:latin typeface="Times New Roman" panose="02020603050405020304" pitchFamily="18" charset="0"/>
                <a:cs typeface="Times New Roman" panose="02020603050405020304" pitchFamily="18" charset="0"/>
              </a:rPr>
              <a:t>224x224 pixels</a:t>
            </a:r>
          </a:p>
          <a:p>
            <a:r>
              <a:rPr lang="en-IN" sz="2200" b="1" dirty="0">
                <a:solidFill>
                  <a:schemeClr val="bg2"/>
                </a:solidFill>
                <a:latin typeface="Times New Roman" panose="02020603050405020304" pitchFamily="18" charset="0"/>
                <a:cs typeface="Times New Roman" panose="02020603050405020304" pitchFamily="18" charset="0"/>
              </a:rPr>
              <a:t>Output Classes : </a:t>
            </a:r>
            <a:r>
              <a:rPr lang="en-IN" sz="2200" dirty="0">
                <a:solidFill>
                  <a:schemeClr val="bg2"/>
                </a:solidFill>
                <a:latin typeface="Times New Roman" panose="02020603050405020304" pitchFamily="18" charset="0"/>
                <a:cs typeface="Times New Roman" panose="02020603050405020304" pitchFamily="18" charset="0"/>
              </a:rPr>
              <a:t>101 food categories</a:t>
            </a:r>
          </a:p>
        </p:txBody>
      </p:sp>
    </p:spTree>
    <p:extLst>
      <p:ext uri="{BB962C8B-B14F-4D97-AF65-F5344CB8AC3E}">
        <p14:creationId xmlns:p14="http://schemas.microsoft.com/office/powerpoint/2010/main" val="119357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3A3CFE-5973-4CBD-292F-452C9DA8377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091BFC-CC68-09C7-A0FD-2428B0CCB3AD}"/>
              </a:ext>
            </a:extLst>
          </p:cNvPr>
          <p:cNvPicPr>
            <a:picLocks noChangeAspect="1"/>
          </p:cNvPicPr>
          <p:nvPr/>
        </p:nvPicPr>
        <p:blipFill>
          <a:blip r:embed="rId2">
            <a:alphaModFix amt="20000"/>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46C2A087-28E5-78E7-3A80-1918A09FFF6C}"/>
              </a:ext>
            </a:extLst>
          </p:cNvPr>
          <p:cNvSpPr>
            <a:spLocks noGrp="1"/>
          </p:cNvSpPr>
          <p:nvPr>
            <p:ph type="title"/>
          </p:nvPr>
        </p:nvSpPr>
        <p:spPr>
          <a:xfrm>
            <a:off x="344774" y="194924"/>
            <a:ext cx="10649262" cy="1325563"/>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TECHNICAL REQUIREMENTS :</a:t>
            </a:r>
            <a:endParaRPr lang="en-IN" sz="4800" b="1" dirty="0">
              <a:solidFill>
                <a:schemeClr val="bg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5C8EAF-DFAF-17E4-FC0A-D9E93AA1371F}"/>
              </a:ext>
            </a:extLst>
          </p:cNvPr>
          <p:cNvSpPr>
            <a:spLocks noGrp="1"/>
          </p:cNvSpPr>
          <p:nvPr>
            <p:ph idx="1"/>
          </p:nvPr>
        </p:nvSpPr>
        <p:spPr>
          <a:xfrm>
            <a:off x="344774" y="1715411"/>
            <a:ext cx="11502452" cy="4355606"/>
          </a:xfrm>
        </p:spPr>
        <p:txBody>
          <a:bodyPr>
            <a:normAutofit/>
          </a:bodyPr>
          <a:lstStyle/>
          <a:p>
            <a:pPr marL="0" indent="0">
              <a:buNone/>
            </a:pPr>
            <a:r>
              <a:rPr lang="en-IN" sz="2400" b="1" dirty="0">
                <a:solidFill>
                  <a:schemeClr val="bg2"/>
                </a:solidFill>
                <a:latin typeface="Times New Roman" panose="02020603050405020304" pitchFamily="18" charset="0"/>
                <a:cs typeface="Times New Roman" panose="02020603050405020304" pitchFamily="18" charset="0"/>
              </a:rPr>
              <a:t>5. </a:t>
            </a:r>
            <a:r>
              <a:rPr lang="en-IN" sz="2400" b="1" u="sng" dirty="0">
                <a:solidFill>
                  <a:schemeClr val="bg2"/>
                </a:solidFill>
                <a:latin typeface="Times New Roman" panose="02020603050405020304" pitchFamily="18" charset="0"/>
                <a:cs typeface="Times New Roman" panose="02020603050405020304" pitchFamily="18" charset="0"/>
              </a:rPr>
              <a:t>Deployment Requirements </a:t>
            </a:r>
            <a:r>
              <a:rPr lang="en-IN" sz="2400" b="1" dirty="0">
                <a:solidFill>
                  <a:schemeClr val="bg2"/>
                </a:solidFill>
                <a:latin typeface="Times New Roman" panose="02020603050405020304" pitchFamily="18" charset="0"/>
                <a:cs typeface="Times New Roman" panose="02020603050405020304" pitchFamily="18" charset="0"/>
              </a:rPr>
              <a:t>:</a:t>
            </a:r>
          </a:p>
          <a:p>
            <a:r>
              <a:rPr lang="en-IN" sz="2200" b="1" dirty="0">
                <a:solidFill>
                  <a:schemeClr val="bg2"/>
                </a:solidFill>
                <a:latin typeface="Times New Roman" panose="02020603050405020304" pitchFamily="18" charset="0"/>
                <a:cs typeface="Times New Roman" panose="02020603050405020304" pitchFamily="18" charset="0"/>
              </a:rPr>
              <a:t>Local Deployment :</a:t>
            </a:r>
          </a:p>
          <a:p>
            <a:pPr>
              <a:buFont typeface="Wingdings" panose="05000000000000000000" pitchFamily="2" charset="2"/>
              <a:buChar char="ü"/>
            </a:pPr>
            <a:r>
              <a:rPr lang="en-IN" sz="2200" dirty="0">
                <a:solidFill>
                  <a:schemeClr val="bg2"/>
                </a:solidFill>
                <a:latin typeface="Times New Roman" panose="02020603050405020304" pitchFamily="18" charset="0"/>
                <a:cs typeface="Times New Roman" panose="02020603050405020304" pitchFamily="18" charset="0"/>
              </a:rPr>
              <a:t>Run using python app.py</a:t>
            </a:r>
          </a:p>
          <a:p>
            <a:pPr>
              <a:buFont typeface="Wingdings" panose="05000000000000000000" pitchFamily="2" charset="2"/>
              <a:buChar char="ü"/>
            </a:pPr>
            <a:r>
              <a:rPr lang="en-IN" sz="2200" dirty="0">
                <a:solidFill>
                  <a:schemeClr val="bg2"/>
                </a:solidFill>
                <a:latin typeface="Times New Roman" panose="02020603050405020304" pitchFamily="18" charset="0"/>
                <a:cs typeface="Times New Roman" panose="02020603050405020304" pitchFamily="18" charset="0"/>
              </a:rPr>
              <a:t>Make sure debug = True only for development</a:t>
            </a:r>
          </a:p>
          <a:p>
            <a:r>
              <a:rPr lang="en-IN" sz="2200" b="1" dirty="0">
                <a:solidFill>
                  <a:schemeClr val="bg2"/>
                </a:solidFill>
                <a:latin typeface="Times New Roman" panose="02020603050405020304" pitchFamily="18" charset="0"/>
                <a:cs typeface="Times New Roman" panose="02020603050405020304" pitchFamily="18" charset="0"/>
              </a:rPr>
              <a:t>Production Deployment (optional):</a:t>
            </a:r>
          </a:p>
          <a:p>
            <a:pPr>
              <a:buFont typeface="Wingdings" panose="05000000000000000000" pitchFamily="2" charset="2"/>
              <a:buChar char="ü"/>
            </a:pPr>
            <a:r>
              <a:rPr lang="en-IN" sz="2200" dirty="0">
                <a:solidFill>
                  <a:schemeClr val="bg2"/>
                </a:solidFill>
                <a:latin typeface="Times New Roman" panose="02020603050405020304" pitchFamily="18" charset="0"/>
                <a:cs typeface="Times New Roman" panose="02020603050405020304" pitchFamily="18" charset="0"/>
              </a:rPr>
              <a:t>Host using services like Heroku, AWS, Render, or </a:t>
            </a:r>
            <a:r>
              <a:rPr lang="en-IN" sz="2200" dirty="0" err="1">
                <a:solidFill>
                  <a:schemeClr val="bg2"/>
                </a:solidFill>
                <a:latin typeface="Times New Roman" panose="02020603050405020304" pitchFamily="18" charset="0"/>
                <a:cs typeface="Times New Roman" panose="02020603050405020304" pitchFamily="18" charset="0"/>
              </a:rPr>
              <a:t>DigitalOcean</a:t>
            </a:r>
            <a:endParaRPr lang="en-IN" sz="2200" dirty="0">
              <a:solidFill>
                <a:schemeClr val="bg2"/>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IN" sz="2200" dirty="0">
                <a:solidFill>
                  <a:schemeClr val="bg2"/>
                </a:solidFill>
                <a:latin typeface="Times New Roman" panose="02020603050405020304" pitchFamily="18" charset="0"/>
                <a:cs typeface="Times New Roman" panose="02020603050405020304" pitchFamily="18" charset="0"/>
              </a:rPr>
              <a:t>Use a production - ready WSGI server like </a:t>
            </a:r>
            <a:r>
              <a:rPr lang="en-IN" sz="2200" dirty="0" err="1">
                <a:solidFill>
                  <a:schemeClr val="bg2"/>
                </a:solidFill>
                <a:latin typeface="Times New Roman" panose="02020603050405020304" pitchFamily="18" charset="0"/>
                <a:cs typeface="Times New Roman" panose="02020603050405020304" pitchFamily="18" charset="0"/>
              </a:rPr>
              <a:t>Gunicorn</a:t>
            </a:r>
            <a:endParaRPr lang="en-IN" sz="22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9773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023648F-887E-ECC3-D69F-CEEB04EDD01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ADB0F97-F12B-0059-F5F2-208ACB743260}"/>
              </a:ext>
            </a:extLst>
          </p:cNvPr>
          <p:cNvPicPr>
            <a:picLocks noChangeAspect="1"/>
          </p:cNvPicPr>
          <p:nvPr/>
        </p:nvPicPr>
        <p:blipFill>
          <a:blip r:embed="rId2">
            <a:alphaModFix amt="20000"/>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0E8E386-9970-699C-510C-4F5075376BB0}"/>
              </a:ext>
            </a:extLst>
          </p:cNvPr>
          <p:cNvSpPr>
            <a:spLocks noGrp="1"/>
          </p:cNvSpPr>
          <p:nvPr>
            <p:ph type="title"/>
          </p:nvPr>
        </p:nvSpPr>
        <p:spPr>
          <a:xfrm>
            <a:off x="344774" y="194924"/>
            <a:ext cx="10649262" cy="1325563"/>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FUNCTIONAL REQUIREMENTS :</a:t>
            </a:r>
            <a:endParaRPr lang="en-IN" sz="4800" b="1" dirty="0">
              <a:solidFill>
                <a:schemeClr val="bg2"/>
              </a:solidFill>
            </a:endParaRPr>
          </a:p>
        </p:txBody>
      </p:sp>
      <p:sp>
        <p:nvSpPr>
          <p:cNvPr id="3" name="Content Placeholder 2">
            <a:extLst>
              <a:ext uri="{FF2B5EF4-FFF2-40B4-BE49-F238E27FC236}">
                <a16:creationId xmlns:a16="http://schemas.microsoft.com/office/drawing/2014/main" id="{E74B9953-1EC5-BE5C-5C93-5B42BE9D6424}"/>
              </a:ext>
            </a:extLst>
          </p:cNvPr>
          <p:cNvSpPr>
            <a:spLocks noGrp="1"/>
          </p:cNvSpPr>
          <p:nvPr>
            <p:ph idx="1"/>
          </p:nvPr>
        </p:nvSpPr>
        <p:spPr>
          <a:xfrm>
            <a:off x="344774" y="1715411"/>
            <a:ext cx="11009026" cy="4461552"/>
          </a:xfrm>
        </p:spPr>
        <p:txBody>
          <a:bodyPr>
            <a:normAutofit fontScale="92500" lnSpcReduction="10000"/>
          </a:bodyPr>
          <a:lstStyle/>
          <a:p>
            <a:pPr>
              <a:buNone/>
            </a:pPr>
            <a:r>
              <a:rPr lang="en-US" sz="2600" b="1" dirty="0">
                <a:solidFill>
                  <a:schemeClr val="bg2"/>
                </a:solidFill>
                <a:latin typeface="Times New Roman" panose="02020603050405020304" pitchFamily="18" charset="0"/>
                <a:cs typeface="Times New Roman" panose="02020603050405020304" pitchFamily="18" charset="0"/>
              </a:rPr>
              <a:t>1. </a:t>
            </a:r>
            <a:r>
              <a:rPr lang="en-US" sz="2600" b="1" u="sng" dirty="0">
                <a:solidFill>
                  <a:schemeClr val="bg2"/>
                </a:solidFill>
                <a:latin typeface="Times New Roman" panose="02020603050405020304" pitchFamily="18" charset="0"/>
                <a:cs typeface="Times New Roman" panose="02020603050405020304" pitchFamily="18" charset="0"/>
              </a:rPr>
              <a:t>Input Functionality </a:t>
            </a:r>
            <a:r>
              <a:rPr lang="en-US" sz="26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Accepts a food image from the user (upload or camera)</a:t>
            </a:r>
          </a:p>
          <a:p>
            <a:pPr>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Validates the format (e.g., JPG, PNG)</a:t>
            </a:r>
          </a:p>
          <a:p>
            <a:pPr>
              <a:buNone/>
            </a:pPr>
            <a:r>
              <a:rPr lang="en-US" sz="2600" b="1" dirty="0">
                <a:solidFill>
                  <a:schemeClr val="bg2"/>
                </a:solidFill>
                <a:latin typeface="Times New Roman" panose="02020603050405020304" pitchFamily="18" charset="0"/>
                <a:cs typeface="Times New Roman" panose="02020603050405020304" pitchFamily="18" charset="0"/>
              </a:rPr>
              <a:t>2. </a:t>
            </a:r>
            <a:r>
              <a:rPr lang="en-US" sz="2600" b="1" u="sng" dirty="0">
                <a:solidFill>
                  <a:schemeClr val="bg2"/>
                </a:solidFill>
                <a:latin typeface="Times New Roman" panose="02020603050405020304" pitchFamily="18" charset="0"/>
                <a:cs typeface="Times New Roman" panose="02020603050405020304" pitchFamily="18" charset="0"/>
              </a:rPr>
              <a:t>Ingredient Prediction </a:t>
            </a:r>
            <a:r>
              <a:rPr lang="en-US" sz="26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Uses a deep learning model to:</a:t>
            </a:r>
          </a:p>
          <a:p>
            <a:pPr marL="742950" lvl="1" indent="-285750">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Analyze the image</a:t>
            </a:r>
          </a:p>
          <a:p>
            <a:pPr marL="742950" lvl="1" indent="-285750">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Predict the set of ingredients present</a:t>
            </a:r>
          </a:p>
          <a:p>
            <a:pPr marL="742950" lvl="1" indent="-285750">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Return a list of ingredients with confidence scores</a:t>
            </a:r>
          </a:p>
          <a:p>
            <a:pPr>
              <a:buNone/>
            </a:pPr>
            <a:r>
              <a:rPr lang="en-US" sz="2600" b="1" dirty="0">
                <a:solidFill>
                  <a:schemeClr val="bg2"/>
                </a:solidFill>
                <a:latin typeface="Times New Roman" panose="02020603050405020304" pitchFamily="18" charset="0"/>
                <a:cs typeface="Times New Roman" panose="02020603050405020304" pitchFamily="18" charset="0"/>
              </a:rPr>
              <a:t>3. </a:t>
            </a:r>
            <a:r>
              <a:rPr lang="en-US" sz="2600" b="1" u="sng" dirty="0">
                <a:solidFill>
                  <a:schemeClr val="bg2"/>
                </a:solidFill>
                <a:latin typeface="Times New Roman" panose="02020603050405020304" pitchFamily="18" charset="0"/>
                <a:cs typeface="Times New Roman" panose="02020603050405020304" pitchFamily="18" charset="0"/>
              </a:rPr>
              <a:t>Multi-label Handling </a:t>
            </a:r>
            <a:r>
              <a:rPr lang="en-US" sz="26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Supports prediction of </a:t>
            </a:r>
            <a:r>
              <a:rPr lang="en-US" sz="2600" b="1" dirty="0">
                <a:solidFill>
                  <a:schemeClr val="bg2"/>
                </a:solidFill>
                <a:latin typeface="Times New Roman" panose="02020603050405020304" pitchFamily="18" charset="0"/>
                <a:cs typeface="Times New Roman" panose="02020603050405020304" pitchFamily="18" charset="0"/>
              </a:rPr>
              <a:t>multiple ingredients</a:t>
            </a:r>
            <a:r>
              <a:rPr lang="en-US" sz="2600" dirty="0">
                <a:solidFill>
                  <a:schemeClr val="bg2"/>
                </a:solidFill>
                <a:latin typeface="Times New Roman" panose="02020603050405020304" pitchFamily="18" charset="0"/>
                <a:cs typeface="Times New Roman" panose="02020603050405020304" pitchFamily="18" charset="0"/>
              </a:rPr>
              <a:t> per image</a:t>
            </a:r>
          </a:p>
          <a:p>
            <a:pPr>
              <a:buFont typeface="Arial" panose="020B0604020202020204" pitchFamily="34" charset="0"/>
              <a:buChar char="•"/>
            </a:pPr>
            <a:r>
              <a:rPr lang="en-US" sz="2600" dirty="0">
                <a:solidFill>
                  <a:schemeClr val="bg2"/>
                </a:solidFill>
                <a:latin typeface="Times New Roman" panose="02020603050405020304" pitchFamily="18" charset="0"/>
                <a:cs typeface="Times New Roman" panose="02020603050405020304" pitchFamily="18" charset="0"/>
              </a:rPr>
              <a:t>Handles partial visibility and overlapping items</a:t>
            </a:r>
          </a:p>
          <a:p>
            <a:pPr>
              <a:buFont typeface="Arial" panose="020B0604020202020204" pitchFamily="34" charset="0"/>
              <a:buChar char="•"/>
            </a:pPr>
            <a:endParaRPr lang="en-IN" sz="2400" dirty="0">
              <a:solidFill>
                <a:schemeClr val="bg2"/>
              </a:solidFill>
            </a:endParaRPr>
          </a:p>
        </p:txBody>
      </p:sp>
    </p:spTree>
    <p:extLst>
      <p:ext uri="{BB962C8B-B14F-4D97-AF65-F5344CB8AC3E}">
        <p14:creationId xmlns:p14="http://schemas.microsoft.com/office/powerpoint/2010/main" val="1399243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BA75274-D663-DCC1-66ED-33D9A6FC4D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32EF584-DECE-DCBB-89F2-4336255F49F2}"/>
              </a:ext>
            </a:extLst>
          </p:cNvPr>
          <p:cNvPicPr>
            <a:picLocks noChangeAspect="1"/>
          </p:cNvPicPr>
          <p:nvPr/>
        </p:nvPicPr>
        <p:blipFill>
          <a:blip r:embed="rId2">
            <a:alphaModFix amt="20000"/>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CD5BB512-0DFF-9D2F-1CDC-0008C65E8B64}"/>
              </a:ext>
            </a:extLst>
          </p:cNvPr>
          <p:cNvSpPr>
            <a:spLocks noGrp="1"/>
          </p:cNvSpPr>
          <p:nvPr>
            <p:ph type="title"/>
          </p:nvPr>
        </p:nvSpPr>
        <p:spPr>
          <a:xfrm>
            <a:off x="344774" y="194924"/>
            <a:ext cx="10649262" cy="1325563"/>
          </a:xfrm>
        </p:spPr>
        <p:txBody>
          <a:bodyPr>
            <a:normAutofit/>
          </a:bodyPr>
          <a:lstStyle/>
          <a:p>
            <a:r>
              <a:rPr lang="en-US" sz="4800" b="1" dirty="0">
                <a:solidFill>
                  <a:schemeClr val="bg2"/>
                </a:solidFill>
                <a:latin typeface="Times New Roman" panose="02020603050405020304" pitchFamily="18" charset="0"/>
                <a:cs typeface="Times New Roman" panose="02020603050405020304" pitchFamily="18" charset="0"/>
              </a:rPr>
              <a:t>FUNCTIONAL REQUIREMENTS </a:t>
            </a:r>
            <a:r>
              <a:rPr lang="en-US" sz="4800" b="1" dirty="0">
                <a:solidFill>
                  <a:schemeClr val="bg2"/>
                </a:solidFill>
              </a:rPr>
              <a:t>:</a:t>
            </a:r>
            <a:endParaRPr lang="en-IN" sz="4800" b="1" dirty="0">
              <a:solidFill>
                <a:schemeClr val="bg2"/>
              </a:solidFill>
            </a:endParaRPr>
          </a:p>
        </p:txBody>
      </p:sp>
      <p:sp>
        <p:nvSpPr>
          <p:cNvPr id="3" name="Content Placeholder 2">
            <a:extLst>
              <a:ext uri="{FF2B5EF4-FFF2-40B4-BE49-F238E27FC236}">
                <a16:creationId xmlns:a16="http://schemas.microsoft.com/office/drawing/2014/main" id="{97EC0324-87DF-25DD-D47D-961483AD4E90}"/>
              </a:ext>
            </a:extLst>
          </p:cNvPr>
          <p:cNvSpPr>
            <a:spLocks noGrp="1"/>
          </p:cNvSpPr>
          <p:nvPr>
            <p:ph idx="1"/>
          </p:nvPr>
        </p:nvSpPr>
        <p:spPr>
          <a:xfrm>
            <a:off x="344773" y="1514006"/>
            <a:ext cx="11257613" cy="4901783"/>
          </a:xfrm>
        </p:spPr>
        <p:txBody>
          <a:bodyPr>
            <a:normAutofit fontScale="77500" lnSpcReduction="20000"/>
          </a:bodyPr>
          <a:lstStyle/>
          <a:p>
            <a:pPr>
              <a:buNone/>
            </a:pPr>
            <a:r>
              <a:rPr lang="en-IN" sz="3100" b="1" dirty="0">
                <a:solidFill>
                  <a:schemeClr val="bg2"/>
                </a:solidFill>
                <a:latin typeface="Times New Roman" panose="02020603050405020304" pitchFamily="18" charset="0"/>
                <a:cs typeface="Times New Roman" panose="02020603050405020304" pitchFamily="18" charset="0"/>
              </a:rPr>
              <a:t>4. </a:t>
            </a:r>
            <a:r>
              <a:rPr lang="en-IN" sz="3100" b="1" u="sng" dirty="0">
                <a:solidFill>
                  <a:schemeClr val="bg2"/>
                </a:solidFill>
                <a:latin typeface="Times New Roman" panose="02020603050405020304" pitchFamily="18" charset="0"/>
                <a:cs typeface="Times New Roman" panose="02020603050405020304" pitchFamily="18" charset="0"/>
              </a:rPr>
              <a:t>Result Display </a:t>
            </a:r>
            <a:r>
              <a:rPr lang="en-IN" sz="31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Shows predicted ingredients on screen</a:t>
            </a:r>
          </a:p>
          <a:p>
            <a:pPr>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Optionally displays:</a:t>
            </a:r>
          </a:p>
          <a:p>
            <a:pPr marL="742950" lvl="1" indent="-285750">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Confidence score for each ingredient</a:t>
            </a:r>
          </a:p>
          <a:p>
            <a:pPr marL="742950" lvl="1" indent="-285750">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Ingredient highlights using heatmaps (e.g., Grad-CAM)</a:t>
            </a:r>
          </a:p>
          <a:p>
            <a:pPr>
              <a:buNone/>
            </a:pPr>
            <a:r>
              <a:rPr lang="en-IN" sz="3100" b="1" dirty="0">
                <a:solidFill>
                  <a:schemeClr val="bg2"/>
                </a:solidFill>
                <a:latin typeface="Times New Roman" panose="02020603050405020304" pitchFamily="18" charset="0"/>
                <a:cs typeface="Times New Roman" panose="02020603050405020304" pitchFamily="18" charset="0"/>
              </a:rPr>
              <a:t>5. </a:t>
            </a:r>
            <a:r>
              <a:rPr lang="en-IN" sz="3100" b="1" u="sng" dirty="0">
                <a:solidFill>
                  <a:schemeClr val="bg2"/>
                </a:solidFill>
                <a:latin typeface="Times New Roman" panose="02020603050405020304" pitchFamily="18" charset="0"/>
                <a:cs typeface="Times New Roman" panose="02020603050405020304" pitchFamily="18" charset="0"/>
              </a:rPr>
              <a:t>Performance Metrics Output </a:t>
            </a:r>
            <a:r>
              <a:rPr lang="en-IN" sz="31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Outputs evaluation results like:</a:t>
            </a:r>
          </a:p>
          <a:p>
            <a:pPr marL="742950" lvl="1" indent="-285750">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Precision, Recall, F1 Score</a:t>
            </a:r>
          </a:p>
          <a:p>
            <a:pPr marL="742950" lvl="1" indent="-285750">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Hamming Loss, Coverage Error</a:t>
            </a:r>
          </a:p>
          <a:p>
            <a:pPr>
              <a:buNone/>
            </a:pPr>
            <a:r>
              <a:rPr lang="en-IN" sz="3100" b="1" dirty="0">
                <a:solidFill>
                  <a:schemeClr val="bg2"/>
                </a:solidFill>
                <a:latin typeface="Times New Roman" panose="02020603050405020304" pitchFamily="18" charset="0"/>
                <a:cs typeface="Times New Roman" panose="02020603050405020304" pitchFamily="18" charset="0"/>
              </a:rPr>
              <a:t>6. </a:t>
            </a:r>
            <a:r>
              <a:rPr lang="en-IN" sz="3100" b="1" u="sng" dirty="0">
                <a:solidFill>
                  <a:schemeClr val="bg2"/>
                </a:solidFill>
                <a:latin typeface="Times New Roman" panose="02020603050405020304" pitchFamily="18" charset="0"/>
                <a:cs typeface="Times New Roman" panose="02020603050405020304" pitchFamily="18" charset="0"/>
              </a:rPr>
              <a:t>Optional Features </a:t>
            </a:r>
            <a:r>
              <a:rPr lang="en-IN" sz="3100" b="1" dirty="0">
                <a:solidFill>
                  <a:schemeClr val="bg2"/>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User interface for uploading images</a:t>
            </a:r>
          </a:p>
          <a:p>
            <a:pPr>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Calorie estimation based on predicted ingredients</a:t>
            </a:r>
          </a:p>
          <a:p>
            <a:pPr>
              <a:buFont typeface="Arial" panose="020B0604020202020204" pitchFamily="34" charset="0"/>
              <a:buChar char="•"/>
            </a:pPr>
            <a:r>
              <a:rPr lang="en-IN" sz="3100" dirty="0">
                <a:solidFill>
                  <a:schemeClr val="bg2"/>
                </a:solidFill>
                <a:latin typeface="Times New Roman" panose="02020603050405020304" pitchFamily="18" charset="0"/>
                <a:cs typeface="Times New Roman" panose="02020603050405020304" pitchFamily="18" charset="0"/>
              </a:rPr>
              <a:t>Download or save predictions</a:t>
            </a:r>
          </a:p>
        </p:txBody>
      </p:sp>
    </p:spTree>
    <p:extLst>
      <p:ext uri="{BB962C8B-B14F-4D97-AF65-F5344CB8AC3E}">
        <p14:creationId xmlns:p14="http://schemas.microsoft.com/office/powerpoint/2010/main" val="3186789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698AD-4279-00CE-376B-2CCF44E7454F}"/>
              </a:ext>
            </a:extLst>
          </p:cNvPr>
          <p:cNvSpPr>
            <a:spLocks noGrp="1"/>
          </p:cNvSpPr>
          <p:nvPr>
            <p:ph type="title"/>
          </p:nvPr>
        </p:nvSpPr>
        <p:spPr>
          <a:xfrm>
            <a:off x="388495" y="98503"/>
            <a:ext cx="10515600" cy="1325563"/>
          </a:xfrm>
        </p:spPr>
        <p:txBody>
          <a:bodyPr/>
          <a:lstStyle/>
          <a:p>
            <a:r>
              <a:rPr lang="en-US" b="1" dirty="0"/>
              <a:t>DESIGN : </a:t>
            </a:r>
            <a:r>
              <a:rPr lang="en-US" dirty="0"/>
              <a:t>USE CASE DIAGRAM</a:t>
            </a:r>
            <a:endParaRPr lang="en-IN" dirty="0"/>
          </a:p>
        </p:txBody>
      </p:sp>
      <p:pic>
        <p:nvPicPr>
          <p:cNvPr id="7" name="Content Placeholder 6">
            <a:extLst>
              <a:ext uri="{FF2B5EF4-FFF2-40B4-BE49-F238E27FC236}">
                <a16:creationId xmlns:a16="http://schemas.microsoft.com/office/drawing/2014/main" id="{CEEFBA8C-7DAD-4615-1D2C-A8CE3FA9D5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8900" y="1257300"/>
            <a:ext cx="6883400" cy="5384800"/>
          </a:xfrm>
        </p:spPr>
      </p:pic>
    </p:spTree>
    <p:extLst>
      <p:ext uri="{BB962C8B-B14F-4D97-AF65-F5344CB8AC3E}">
        <p14:creationId xmlns:p14="http://schemas.microsoft.com/office/powerpoint/2010/main" val="1300714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5AA1-2984-D3C3-EDF3-EA0928FF8E85}"/>
              </a:ext>
            </a:extLst>
          </p:cNvPr>
          <p:cNvSpPr>
            <a:spLocks noGrp="1"/>
          </p:cNvSpPr>
          <p:nvPr>
            <p:ph type="title"/>
          </p:nvPr>
        </p:nvSpPr>
        <p:spPr>
          <a:xfrm>
            <a:off x="403486" y="2029032"/>
            <a:ext cx="5172855" cy="1834682"/>
          </a:xfrm>
        </p:spPr>
        <p:txBody>
          <a:bodyPr/>
          <a:lstStyle/>
          <a:p>
            <a:r>
              <a:rPr lang="en-US" dirty="0"/>
              <a:t>ACTIVITY DIAGRAM :</a:t>
            </a:r>
            <a:endParaRPr lang="en-IN" dirty="0"/>
          </a:p>
        </p:txBody>
      </p:sp>
      <p:pic>
        <p:nvPicPr>
          <p:cNvPr id="7" name="Content Placeholder 6">
            <a:extLst>
              <a:ext uri="{FF2B5EF4-FFF2-40B4-BE49-F238E27FC236}">
                <a16:creationId xmlns:a16="http://schemas.microsoft.com/office/drawing/2014/main" id="{CF1924AC-B85D-EFAE-AA7B-E8ACCF5E1E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62701" y="798512"/>
            <a:ext cx="3695700" cy="5894388"/>
          </a:xfrm>
        </p:spPr>
      </p:pic>
    </p:spTree>
    <p:extLst>
      <p:ext uri="{BB962C8B-B14F-4D97-AF65-F5344CB8AC3E}">
        <p14:creationId xmlns:p14="http://schemas.microsoft.com/office/powerpoint/2010/main" val="1031444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A46B7-454F-066B-CA64-D20A626DB406}"/>
              </a:ext>
            </a:extLst>
          </p:cNvPr>
          <p:cNvSpPr>
            <a:spLocks noGrp="1"/>
          </p:cNvSpPr>
          <p:nvPr>
            <p:ph type="title"/>
          </p:nvPr>
        </p:nvSpPr>
        <p:spPr/>
        <p:txBody>
          <a:bodyPr/>
          <a:lstStyle/>
          <a:p>
            <a:r>
              <a:rPr lang="en-US" dirty="0"/>
              <a:t>ARCHITECHTURE :</a:t>
            </a:r>
            <a:endParaRPr lang="en-IN" dirty="0"/>
          </a:p>
        </p:txBody>
      </p:sp>
      <p:pic>
        <p:nvPicPr>
          <p:cNvPr id="5" name="Content Placeholder 4">
            <a:extLst>
              <a:ext uri="{FF2B5EF4-FFF2-40B4-BE49-F238E27FC236}">
                <a16:creationId xmlns:a16="http://schemas.microsoft.com/office/drawing/2014/main" id="{8F111514-D693-025F-012F-841A516F4F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7421" y="1584325"/>
            <a:ext cx="6529557" cy="4351338"/>
          </a:xfrm>
        </p:spPr>
      </p:pic>
      <p:sp>
        <p:nvSpPr>
          <p:cNvPr id="6" name="TextBox 5">
            <a:extLst>
              <a:ext uri="{FF2B5EF4-FFF2-40B4-BE49-F238E27FC236}">
                <a16:creationId xmlns:a16="http://schemas.microsoft.com/office/drawing/2014/main" id="{9C0F9072-2463-879F-DF5A-3AB9C78F07EF}"/>
              </a:ext>
            </a:extLst>
          </p:cNvPr>
          <p:cNvSpPr txBox="1"/>
          <p:nvPr/>
        </p:nvSpPr>
        <p:spPr>
          <a:xfrm>
            <a:off x="8166978" y="3198167"/>
            <a:ext cx="1257300" cy="461665"/>
          </a:xfrm>
          <a:prstGeom prst="rect">
            <a:avLst/>
          </a:prstGeom>
          <a:noFill/>
        </p:spPr>
        <p:txBody>
          <a:bodyPr wrap="square" rtlCol="0">
            <a:spAutoFit/>
          </a:bodyPr>
          <a:lstStyle/>
          <a:p>
            <a:r>
              <a:rPr lang="en-US" sz="2400" dirty="0"/>
              <a:t>Output</a:t>
            </a:r>
            <a:endParaRPr lang="en-IN" sz="2400" dirty="0"/>
          </a:p>
        </p:txBody>
      </p:sp>
    </p:spTree>
    <p:extLst>
      <p:ext uri="{BB962C8B-B14F-4D97-AF65-F5344CB8AC3E}">
        <p14:creationId xmlns:p14="http://schemas.microsoft.com/office/powerpoint/2010/main" val="4083960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FDFA5-0410-F5E7-64B1-62E2DBB18FF1}"/>
              </a:ext>
            </a:extLst>
          </p:cNvPr>
          <p:cNvSpPr>
            <a:spLocks noGrp="1"/>
          </p:cNvSpPr>
          <p:nvPr>
            <p:ph type="title"/>
          </p:nvPr>
        </p:nvSpPr>
        <p:spPr/>
        <p:txBody>
          <a:bodyPr/>
          <a:lstStyle/>
          <a:p>
            <a:r>
              <a:rPr lang="en-IN" dirty="0"/>
              <a:t>Expected output :</a:t>
            </a:r>
          </a:p>
        </p:txBody>
      </p:sp>
      <p:pic>
        <p:nvPicPr>
          <p:cNvPr id="5" name="Content Placeholder 4">
            <a:extLst>
              <a:ext uri="{FF2B5EF4-FFF2-40B4-BE49-F238E27FC236}">
                <a16:creationId xmlns:a16="http://schemas.microsoft.com/office/drawing/2014/main" id="{E8ED658B-9CAB-D5FC-B34E-060AED47DC6E}"/>
              </a:ext>
            </a:extLst>
          </p:cNvPr>
          <p:cNvPicPr>
            <a:picLocks noGrp="1" noChangeAspect="1"/>
          </p:cNvPicPr>
          <p:nvPr>
            <p:ph idx="1"/>
          </p:nvPr>
        </p:nvPicPr>
        <p:blipFill>
          <a:blip r:embed="rId2"/>
          <a:stretch>
            <a:fillRect/>
          </a:stretch>
        </p:blipFill>
        <p:spPr>
          <a:xfrm>
            <a:off x="2228144" y="1825625"/>
            <a:ext cx="7735712" cy="4351338"/>
          </a:xfrm>
        </p:spPr>
      </p:pic>
    </p:spTree>
    <p:extLst>
      <p:ext uri="{BB962C8B-B14F-4D97-AF65-F5344CB8AC3E}">
        <p14:creationId xmlns:p14="http://schemas.microsoft.com/office/powerpoint/2010/main" val="4242614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2DD116-7FF1-9CC5-76AF-34051C2227C9}"/>
              </a:ext>
            </a:extLst>
          </p:cNvPr>
          <p:cNvPicPr>
            <a:picLocks noGrp="1" noChangeAspect="1"/>
          </p:cNvPicPr>
          <p:nvPr>
            <p:ph idx="1"/>
          </p:nvPr>
        </p:nvPicPr>
        <p:blipFill>
          <a:blip r:embed="rId2"/>
          <a:stretch>
            <a:fillRect/>
          </a:stretch>
        </p:blipFill>
        <p:spPr>
          <a:xfrm>
            <a:off x="2228144" y="1119043"/>
            <a:ext cx="7735712" cy="4351338"/>
          </a:xfrm>
        </p:spPr>
      </p:pic>
    </p:spTree>
    <p:extLst>
      <p:ext uri="{BB962C8B-B14F-4D97-AF65-F5344CB8AC3E}">
        <p14:creationId xmlns:p14="http://schemas.microsoft.com/office/powerpoint/2010/main" val="1563967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91846-4C97-CC07-7EC6-CB4A8820D3A5}"/>
              </a:ext>
            </a:extLst>
          </p:cNvPr>
          <p:cNvSpPr>
            <a:spLocks noGrp="1"/>
          </p:cNvSpPr>
          <p:nvPr>
            <p:ph type="ctrTitle"/>
          </p:nvPr>
        </p:nvSpPr>
        <p:spPr>
          <a:xfrm>
            <a:off x="858981" y="177188"/>
            <a:ext cx="9144000" cy="1108219"/>
          </a:xfrm>
        </p:spPr>
        <p:txBody>
          <a:bodyPr>
            <a:normAutofit/>
          </a:bodyPr>
          <a:lstStyle/>
          <a:p>
            <a:pPr algn="l"/>
            <a:r>
              <a:rPr lang="en-US" sz="4800" b="1" dirty="0">
                <a:latin typeface="Times New Roman" panose="02020603050405020304" pitchFamily="18" charset="0"/>
                <a:cs typeface="Times New Roman" panose="02020603050405020304" pitchFamily="18" charset="0"/>
              </a:rPr>
              <a:t>Conclusion:</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91EE6B2-9D35-5DEC-11DA-473CEBB60965}"/>
              </a:ext>
            </a:extLst>
          </p:cNvPr>
          <p:cNvSpPr>
            <a:spLocks noGrp="1"/>
          </p:cNvSpPr>
          <p:nvPr>
            <p:ph type="subTitle" idx="1"/>
          </p:nvPr>
        </p:nvSpPr>
        <p:spPr>
          <a:xfrm>
            <a:off x="858981" y="1285407"/>
            <a:ext cx="10695709" cy="5080612"/>
          </a:xfrm>
        </p:spPr>
        <p:txBody>
          <a:bodyPr>
            <a:normAutofit/>
          </a:bodyPr>
          <a:lstStyle/>
          <a:p>
            <a:pPr algn="l"/>
            <a:r>
              <a:rPr lang="en-US" dirty="0">
                <a:latin typeface="Times New Roman" panose="02020603050405020304" pitchFamily="18" charset="0"/>
                <a:cs typeface="Times New Roman" panose="02020603050405020304" pitchFamily="18" charset="0"/>
              </a:rPr>
              <a:t>This project demonstrates the successful implementation of an end-to-end machine learning-based web application capable of classifying food items using image input. Leveraging the power of a VGG16 convolutional neural network, the system accurately predicts one of 101 food categories from the Food-101 dataset. The application is further enriched by integrating </a:t>
            </a:r>
            <a:r>
              <a:rPr lang="en-US" dirty="0" err="1">
                <a:latin typeface="Times New Roman" panose="02020603050405020304" pitchFamily="18" charset="0"/>
                <a:cs typeface="Times New Roman" panose="02020603050405020304" pitchFamily="18" charset="0"/>
              </a:rPr>
              <a:t>Groq’s</a:t>
            </a:r>
            <a:r>
              <a:rPr lang="en-US" dirty="0">
                <a:latin typeface="Times New Roman" panose="02020603050405020304" pitchFamily="18" charset="0"/>
                <a:cs typeface="Times New Roman" panose="02020603050405020304" pitchFamily="18" charset="0"/>
              </a:rPr>
              <a:t> large language model, which adds descriptive insights by providing: </a:t>
            </a:r>
          </a:p>
          <a:p>
            <a:pPr algn="l"/>
            <a:r>
              <a:rPr lang="en-US" dirty="0">
                <a:latin typeface="Times New Roman" panose="02020603050405020304" pitchFamily="18" charset="0"/>
                <a:cs typeface="Times New Roman" panose="02020603050405020304" pitchFamily="18" charset="0"/>
              </a:rPr>
              <a:t>• Ingredients commonly used in the predicted dish </a:t>
            </a:r>
          </a:p>
          <a:p>
            <a:pPr algn="l"/>
            <a:r>
              <a:rPr lang="en-US" dirty="0">
                <a:latin typeface="Times New Roman" panose="02020603050405020304" pitchFamily="18" charset="0"/>
                <a:cs typeface="Times New Roman" panose="02020603050405020304" pitchFamily="18" charset="0"/>
              </a:rPr>
              <a:t>• Nutritional content for user awareness</a:t>
            </a:r>
          </a:p>
          <a:p>
            <a:pPr algn="l"/>
            <a:r>
              <a:rPr lang="en-US" dirty="0">
                <a:latin typeface="Times New Roman" panose="02020603050405020304" pitchFamily="18" charset="0"/>
                <a:cs typeface="Times New Roman" panose="02020603050405020304" pitchFamily="18" charset="0"/>
              </a:rPr>
              <a:t> The system features a responsive user interface, reliable backend inference, and informative API integration, offering a comprehensive food recognition and information tool. Through extensive testing, the model has shown high prediction accuracy, resilience to invalid input, and user-friendly error handling.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695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D663-4FAE-C964-6B09-488CF76B8D9D}"/>
              </a:ext>
            </a:extLst>
          </p:cNvPr>
          <p:cNvSpPr>
            <a:spLocks noGrp="1"/>
          </p:cNvSpPr>
          <p:nvPr>
            <p:ph type="title"/>
          </p:nvPr>
        </p:nvSpPr>
        <p:spPr/>
        <p:txBody>
          <a:bodyPr>
            <a:normAutofit/>
          </a:bodyPr>
          <a:lstStyle/>
          <a:p>
            <a:r>
              <a:rPr lang="en-IN" sz="4800" b="1"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CCC344DA-F1CC-C489-74BC-77E028434DDC}"/>
              </a:ext>
            </a:extLst>
          </p:cNvPr>
          <p:cNvSpPr>
            <a:spLocks noGrp="1"/>
          </p:cNvSpPr>
          <p:nvPr>
            <p:ph idx="1"/>
          </p:nvPr>
        </p:nvSpPr>
        <p:spPr>
          <a:xfrm>
            <a:off x="838200" y="1690688"/>
            <a:ext cx="10515600" cy="4486275"/>
          </a:xfrm>
        </p:spPr>
        <p:txBody>
          <a:bodyPr/>
          <a:lstStyle/>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Allergen Detection: </a:t>
            </a:r>
            <a:r>
              <a:rPr lang="en-US" dirty="0">
                <a:latin typeface="Times New Roman" panose="02020603050405020304" pitchFamily="18" charset="0"/>
                <a:cs typeface="Times New Roman" panose="02020603050405020304" pitchFamily="18" charset="0"/>
              </a:rPr>
              <a:t>Automatically highlight common allergens from ingredients for health-sensitive users.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Calorie Tracker: </a:t>
            </a:r>
            <a:r>
              <a:rPr lang="en-US" dirty="0">
                <a:latin typeface="Times New Roman" panose="02020603050405020304" pitchFamily="18" charset="0"/>
                <a:cs typeface="Times New Roman" panose="02020603050405020304" pitchFamily="18" charset="0"/>
              </a:rPr>
              <a:t>Integrate with fitness apps to track daily nutritional intake.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Recipe Generation: </a:t>
            </a:r>
            <a:r>
              <a:rPr lang="en-US" dirty="0">
                <a:latin typeface="Times New Roman" panose="02020603050405020304" pitchFamily="18" charset="0"/>
                <a:cs typeface="Times New Roman" panose="02020603050405020304" pitchFamily="18" charset="0"/>
              </a:rPr>
              <a:t>Use </a:t>
            </a:r>
            <a:r>
              <a:rPr lang="en-US" dirty="0" err="1">
                <a:latin typeface="Times New Roman" panose="02020603050405020304" pitchFamily="18" charset="0"/>
                <a:cs typeface="Times New Roman" panose="02020603050405020304" pitchFamily="18" charset="0"/>
              </a:rPr>
              <a:t>Groq</a:t>
            </a:r>
            <a:r>
              <a:rPr lang="en-US" dirty="0">
                <a:latin typeface="Times New Roman" panose="02020603050405020304" pitchFamily="18" charset="0"/>
                <a:cs typeface="Times New Roman" panose="02020603050405020304" pitchFamily="18" charset="0"/>
              </a:rPr>
              <a:t> or similar APIs to provide step-by-step recipes for predicted dishes.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User Feedback Loop: </a:t>
            </a:r>
            <a:r>
              <a:rPr lang="en-US" dirty="0">
                <a:latin typeface="Times New Roman" panose="02020603050405020304" pitchFamily="18" charset="0"/>
                <a:cs typeface="Times New Roman" panose="02020603050405020304" pitchFamily="18" charset="0"/>
              </a:rPr>
              <a:t>Implement a system where users can correct wrong predictions and retrain the model. </a:t>
            </a:r>
          </a:p>
        </p:txBody>
      </p:sp>
    </p:spTree>
    <p:extLst>
      <p:ext uri="{BB962C8B-B14F-4D97-AF65-F5344CB8AC3E}">
        <p14:creationId xmlns:p14="http://schemas.microsoft.com/office/powerpoint/2010/main" val="1364083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9529-B7A2-8F2F-6860-2D420BF19771}"/>
              </a:ext>
            </a:extLst>
          </p:cNvPr>
          <p:cNvSpPr>
            <a:spLocks noGrp="1"/>
          </p:cNvSpPr>
          <p:nvPr>
            <p:ph type="title"/>
          </p:nvPr>
        </p:nvSpPr>
        <p:spPr>
          <a:xfrm>
            <a:off x="523407" y="155263"/>
            <a:ext cx="10515600" cy="1325563"/>
          </a:xfrm>
        </p:spPr>
        <p:txBody>
          <a:bodyPr>
            <a:normAutofit/>
          </a:bodyPr>
          <a:lstStyle/>
          <a:p>
            <a:r>
              <a:rPr lang="en-US" sz="4800" b="1" dirty="0">
                <a:latin typeface="Times New Roman" panose="02020603050405020304" pitchFamily="18" charset="0"/>
                <a:cs typeface="Times New Roman" panose="02020603050405020304" pitchFamily="18" charset="0"/>
              </a:rPr>
              <a:t>References:</a:t>
            </a:r>
            <a:endParaRPr lang="en-IN"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5A8003-BC69-5CC4-DCD9-9DB61754B208}"/>
              </a:ext>
            </a:extLst>
          </p:cNvPr>
          <p:cNvSpPr>
            <a:spLocks noGrp="1"/>
          </p:cNvSpPr>
          <p:nvPr>
            <p:ph idx="1"/>
          </p:nvPr>
        </p:nvSpPr>
        <p:spPr>
          <a:xfrm>
            <a:off x="523407" y="1480826"/>
            <a:ext cx="10830393" cy="5099855"/>
          </a:xfrm>
        </p:spPr>
        <p:txBody>
          <a:bodyPr>
            <a:normAutofit fontScale="92500" lnSpcReduction="20000"/>
          </a:bodyPr>
          <a:lstStyle/>
          <a:p>
            <a:pPr marL="0" indent="0">
              <a:buNone/>
            </a:pPr>
            <a:r>
              <a:rPr lang="en-IN" sz="3000" b="1" dirty="0">
                <a:latin typeface="Times New Roman" panose="02020603050405020304" pitchFamily="18" charset="0"/>
                <a:cs typeface="Times New Roman" panose="02020603050405020304" pitchFamily="18" charset="0"/>
              </a:rPr>
              <a:t>Research Papers &amp; Books:</a:t>
            </a:r>
          </a:p>
          <a:p>
            <a:r>
              <a:rPr lang="en-IN" dirty="0">
                <a:latin typeface="Times New Roman" panose="02020603050405020304" pitchFamily="18" charset="0"/>
                <a:cs typeface="Times New Roman" panose="02020603050405020304" pitchFamily="18" charset="0"/>
              </a:rPr>
              <a:t>Simonyan, K., &amp; Zisserman, A. (2015). Very Deep Convolutional Networks for Large-Scale Image Recognition. International Conference on Learning Representations (ICLR).</a:t>
            </a:r>
          </a:p>
          <a:p>
            <a:r>
              <a:rPr lang="en-IN" dirty="0">
                <a:latin typeface="Times New Roman" panose="02020603050405020304" pitchFamily="18" charset="0"/>
                <a:cs typeface="Times New Roman" panose="02020603050405020304" pitchFamily="18" charset="0"/>
                <a:hlinkClick r:id="rId2"/>
              </a:rPr>
              <a:t>https://arxiv.org/abs/1409.1556</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Bossard, L., Guillaumin, M., &amp; Van Gool, L. (2014). Food-101 – Mining Discriminative Components with Random Forests. ECCV 2014. </a:t>
            </a:r>
            <a:r>
              <a:rPr lang="en-IN" dirty="0">
                <a:latin typeface="Times New Roman" panose="02020603050405020304" pitchFamily="18" charset="0"/>
                <a:cs typeface="Times New Roman" panose="02020603050405020304" pitchFamily="18" charset="0"/>
                <a:hlinkClick r:id="rId3"/>
              </a:rPr>
              <a:t>https://data.vision.ee.ethz.ch/cvl/datasets_extra/food-101/</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Groq</a:t>
            </a:r>
            <a:r>
              <a:rPr lang="en-IN" dirty="0">
                <a:latin typeface="Times New Roman" panose="02020603050405020304" pitchFamily="18" charset="0"/>
                <a:cs typeface="Times New Roman" panose="02020603050405020304" pitchFamily="18" charset="0"/>
              </a:rPr>
              <a:t> Cloud API Documentation – API documentation for integration with LLMs to fetch food descriptions and nutrition.</a:t>
            </a:r>
          </a:p>
          <a:p>
            <a:r>
              <a:rPr lang="en-IN" dirty="0">
                <a:latin typeface="Times New Roman" panose="02020603050405020304" pitchFamily="18" charset="0"/>
                <a:cs typeface="Times New Roman" panose="02020603050405020304" pitchFamily="18" charset="0"/>
                <a:hlinkClick r:id="rId4"/>
              </a:rPr>
              <a:t>https://groq.com/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hlinkClick r:id="rId5"/>
              </a:rPr>
              <a:t>https://flask.palletsprojects.com/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hlinkClick r:id="rId6"/>
              </a:rPr>
              <a:t>https://www.tensorflow.org/api_docs/python/tf/keras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hlinkClick r:id="rId7"/>
              </a:rPr>
              <a:t>https://numpy.org/doc/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74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We Say Thank You to the World's Food Processors">
            <a:extLst>
              <a:ext uri="{FF2B5EF4-FFF2-40B4-BE49-F238E27FC236}">
                <a16:creationId xmlns:a16="http://schemas.microsoft.com/office/drawing/2014/main" id="{A50494E9-0C01-EB16-C2D0-74BF7D5B309C}"/>
              </a:ext>
            </a:extLst>
          </p:cNvPr>
          <p:cNvPicPr>
            <a:picLocks noGrp="1" noChangeAspect="1"/>
          </p:cNvPicPr>
          <p:nvPr>
            <p:ph sz="half" idx="2"/>
          </p:nvPr>
        </p:nvPicPr>
        <p:blipFill>
          <a:blip r:embed="rId2"/>
          <a:srcRect t="13771" b="19278"/>
          <a:stretch/>
        </p:blipFill>
        <p:spPr>
          <a:xfrm>
            <a:off x="20" y="1282"/>
            <a:ext cx="12191980" cy="6856718"/>
          </a:xfrm>
          <a:prstGeom prst="rect">
            <a:avLst/>
          </a:prstGeom>
        </p:spPr>
      </p:pic>
    </p:spTree>
    <p:extLst>
      <p:ext uri="{BB962C8B-B14F-4D97-AF65-F5344CB8AC3E}">
        <p14:creationId xmlns:p14="http://schemas.microsoft.com/office/powerpoint/2010/main" val="167670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595</TotalTime>
  <Words>2124</Words>
  <Application>Microsoft Office PowerPoint</Application>
  <PresentationFormat>Widescreen</PresentationFormat>
  <Paragraphs>176</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Calibri</vt:lpstr>
      <vt:lpstr>Times New Roman</vt:lpstr>
      <vt:lpstr>Wingdings</vt:lpstr>
      <vt:lpstr>office theme</vt:lpstr>
      <vt:lpstr>PowerPoint Presentation</vt:lpstr>
      <vt:lpstr> Recipe Generation and Nutritional Analysis from Food Images Using Deep Learning Techniques   </vt:lpstr>
      <vt:lpstr>ABSTRACT</vt:lpstr>
      <vt:lpstr>INTRODUCTION</vt:lpstr>
      <vt:lpstr>Literature survey:</vt:lpstr>
      <vt:lpstr>PowerPoint Presentation</vt:lpstr>
      <vt:lpstr>  </vt:lpstr>
      <vt:lpstr>EXISTING SYSTEM :</vt:lpstr>
      <vt:lpstr>DISADVANTAGES OF EXISTING SYSTEM</vt:lpstr>
      <vt:lpstr>PROPOSED SYSTEM :</vt:lpstr>
      <vt:lpstr>TECHNICAL REQUIREMENTS :</vt:lpstr>
      <vt:lpstr>TECHNICAL REQUIREMENTS :</vt:lpstr>
      <vt:lpstr>TECHNICAL REQUIREMENTS :</vt:lpstr>
      <vt:lpstr>FUNCTIONAL REQUIREMENTS :</vt:lpstr>
      <vt:lpstr>FUNCTIONAL REQUIREMENTS :</vt:lpstr>
      <vt:lpstr>DESIGN : USE CASE DIAGRAM</vt:lpstr>
      <vt:lpstr>ACTIVITY DIAGRAM :</vt:lpstr>
      <vt:lpstr>ARCHITECHTURE :</vt:lpstr>
      <vt:lpstr>Expected output :</vt:lpstr>
      <vt:lpstr>PowerPoint Presentation</vt:lpstr>
      <vt:lpstr>Conclusion:</vt:lpstr>
      <vt:lpstr>Future work:</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Keerthi Chakra</cp:lastModifiedBy>
  <cp:revision>236</cp:revision>
  <dcterms:created xsi:type="dcterms:W3CDTF">2013-07-15T20:26:40Z</dcterms:created>
  <dcterms:modified xsi:type="dcterms:W3CDTF">2025-05-08T17:23:22Z</dcterms:modified>
</cp:coreProperties>
</file>